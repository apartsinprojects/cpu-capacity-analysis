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D4DE9-3929-447C-AB2A-10173FAA980F}" type="datetimeFigureOut">
              <a:rPr lang="en-US" smtClean="0"/>
              <a:t>2/17/2011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07996-4C33-473E-804A-424314EF76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Support Tool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Estimate marginal net earning per server</a:t>
            </a:r>
          </a:p>
          <a:p>
            <a:r>
              <a:rPr lang="en-US" dirty="0" smtClean="0"/>
              <a:t>Should new server be purchased?</a:t>
            </a:r>
          </a:p>
          <a:p>
            <a:r>
              <a:rPr lang="en-US" dirty="0" smtClean="0"/>
              <a:t>Inputs</a:t>
            </a:r>
          </a:p>
          <a:p>
            <a:pPr lvl="1"/>
            <a:r>
              <a:rPr lang="en-US" dirty="0" smtClean="0"/>
              <a:t>Load and performance of a server (transactions and </a:t>
            </a:r>
            <a:r>
              <a:rPr lang="en-US" dirty="0" err="1" smtClean="0"/>
              <a:t>cpu</a:t>
            </a:r>
            <a:r>
              <a:rPr lang="en-US" dirty="0"/>
              <a:t>)</a:t>
            </a:r>
            <a:endParaRPr lang="en-US" dirty="0" smtClean="0"/>
          </a:p>
          <a:p>
            <a:pPr lvl="2"/>
            <a:r>
              <a:rPr lang="en-US" dirty="0" smtClean="0"/>
              <a:t>Statistics modeling</a:t>
            </a:r>
          </a:p>
          <a:p>
            <a:pPr lvl="2"/>
            <a:r>
              <a:rPr lang="en-US" dirty="0" smtClean="0"/>
              <a:t>Expert estimation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Revenue share policies</a:t>
            </a:r>
          </a:p>
          <a:p>
            <a:pPr lvl="2"/>
            <a:r>
              <a:rPr lang="en-US" dirty="0" smtClean="0"/>
              <a:t>Revenues of an operator</a:t>
            </a:r>
          </a:p>
          <a:p>
            <a:pPr lvl="2"/>
            <a:r>
              <a:rPr lang="en-US" dirty="0" smtClean="0"/>
              <a:t>Revenue share for different SLA cases</a:t>
            </a:r>
          </a:p>
          <a:p>
            <a:pPr lvl="2"/>
            <a:r>
              <a:rPr lang="en-US" dirty="0" smtClean="0"/>
              <a:t>Fines etc.</a:t>
            </a:r>
          </a:p>
          <a:p>
            <a:pPr lvl="2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load and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</a:t>
            </a:r>
            <a:r>
              <a:rPr lang="en-US" dirty="0" smtClean="0"/>
              <a:t>(E=</a:t>
            </a:r>
            <a:r>
              <a:rPr lang="en-US" b="1" dirty="0" err="1" smtClean="0"/>
              <a:t>e</a:t>
            </a:r>
            <a:r>
              <a:rPr lang="en-US" dirty="0" err="1" smtClean="0"/>
              <a:t>|T</a:t>
            </a:r>
            <a:r>
              <a:rPr lang="en-US" dirty="0" smtClean="0"/>
              <a:t>=</a:t>
            </a:r>
            <a:r>
              <a:rPr lang="en-US" b="1" dirty="0" smtClean="0"/>
              <a:t>t</a:t>
            </a:r>
            <a:r>
              <a:rPr lang="en-US" dirty="0" smtClean="0"/>
              <a:t>) is a probability to see </a:t>
            </a:r>
            <a:r>
              <a:rPr lang="en-US" b="1" dirty="0" smtClean="0"/>
              <a:t>e</a:t>
            </a:r>
            <a:r>
              <a:rPr lang="en-US" dirty="0" smtClean="0"/>
              <a:t> events at time </a:t>
            </a:r>
            <a:r>
              <a:rPr lang="en-US" b="1" dirty="0" smtClean="0"/>
              <a:t>t</a:t>
            </a:r>
          </a:p>
          <a:p>
            <a:r>
              <a:rPr lang="en-US" dirty="0" smtClean="0"/>
              <a:t>Pc(C=</a:t>
            </a:r>
            <a:r>
              <a:rPr lang="en-US" b="1" dirty="0" err="1" smtClean="0"/>
              <a:t>c</a:t>
            </a:r>
            <a:r>
              <a:rPr lang="en-US" dirty="0" err="1" smtClean="0"/>
              <a:t>|E</a:t>
            </a:r>
            <a:r>
              <a:rPr lang="en-US" dirty="0" smtClean="0"/>
              <a:t>=</a:t>
            </a:r>
            <a:r>
              <a:rPr lang="en-US" b="1" dirty="0" smtClean="0"/>
              <a:t>e</a:t>
            </a:r>
            <a:r>
              <a:rPr lang="en-US" dirty="0" smtClean="0"/>
              <a:t>) is a probability to see CPU utilization </a:t>
            </a:r>
            <a:r>
              <a:rPr lang="en-US" b="1" dirty="0" smtClean="0"/>
              <a:t>c</a:t>
            </a:r>
            <a:r>
              <a:rPr lang="en-US" dirty="0" smtClean="0"/>
              <a:t> if loaded with events </a:t>
            </a:r>
            <a:r>
              <a:rPr lang="en-US" b="1" dirty="0" smtClean="0"/>
              <a:t>e</a:t>
            </a:r>
            <a:r>
              <a:rPr lang="en-US" dirty="0" smtClean="0"/>
              <a:t> (same time units as above)</a:t>
            </a:r>
          </a:p>
          <a:p>
            <a:r>
              <a:rPr lang="en-US" dirty="0" smtClean="0"/>
              <a:t>Ps(C=</a:t>
            </a:r>
            <a:r>
              <a:rPr lang="en-US" b="1" dirty="0" smtClean="0"/>
              <a:t>c</a:t>
            </a:r>
            <a:r>
              <a:rPr lang="en-US" dirty="0" smtClean="0"/>
              <a:t>) is a probability for an event to be processed if CPU load at time event is arrived is </a:t>
            </a:r>
            <a:r>
              <a:rPr lang="en-US" b="1" dirty="0" smtClean="0"/>
              <a:t>c</a:t>
            </a: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share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b="1" dirty="0" smtClean="0"/>
              <a:t>ARPE</a:t>
            </a:r>
            <a:r>
              <a:rPr lang="en-US" dirty="0" smtClean="0"/>
              <a:t> average revenue of operator per event</a:t>
            </a:r>
          </a:p>
          <a:p>
            <a:r>
              <a:rPr lang="en-US" dirty="0" smtClean="0"/>
              <a:t>Revenue share policy(example)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819400"/>
          <a:ext cx="6096000" cy="358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681925">
                <a:tc>
                  <a:txBody>
                    <a:bodyPr/>
                    <a:lstStyle/>
                    <a:p>
                      <a:r>
                        <a:rPr lang="en-US" dirty="0" smtClean="0"/>
                        <a:t>% of </a:t>
                      </a:r>
                      <a:r>
                        <a:rPr lang="en-US" dirty="0" err="1" smtClean="0"/>
                        <a:t>succsfully</a:t>
                      </a:r>
                      <a:r>
                        <a:rPr lang="en-US" dirty="0" smtClean="0"/>
                        <a:t> completed transactions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Revenue share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Fine</a:t>
                      </a:r>
                      <a:endParaRPr lang="en-US" dirty="0"/>
                    </a:p>
                  </a:txBody>
                  <a:tcPr/>
                </a:tc>
              </a:tr>
              <a:tr h="667719">
                <a:tc>
                  <a:txBody>
                    <a:bodyPr/>
                    <a:lstStyle/>
                    <a:p>
                      <a:r>
                        <a:rPr lang="en-US" dirty="0" smtClean="0"/>
                        <a:t>&lt;80%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$100000</a:t>
                      </a:r>
                      <a:endParaRPr lang="en-US" dirty="0"/>
                    </a:p>
                  </a:txBody>
                  <a:tcPr/>
                </a:tc>
              </a:tr>
              <a:tr h="667719">
                <a:tc>
                  <a:txBody>
                    <a:bodyPr/>
                    <a:lstStyle/>
                    <a:p>
                      <a:r>
                        <a:rPr lang="en-US" dirty="0" smtClean="0"/>
                        <a:t>&lt;90%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67719">
                <a:tc>
                  <a:txBody>
                    <a:bodyPr/>
                    <a:lstStyle/>
                    <a:p>
                      <a:r>
                        <a:rPr lang="en-US" dirty="0" smtClean="0"/>
                        <a:t>90%&lt;a&lt;99%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67719">
                <a:tc>
                  <a:txBody>
                    <a:bodyPr/>
                    <a:lstStyle/>
                    <a:p>
                      <a:r>
                        <a:rPr lang="en-US" dirty="0" smtClean="0"/>
                        <a:t>A&gt;99%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per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Expected Number of Succeeded Transactions</a:t>
            </a:r>
          </a:p>
          <a:p>
            <a:pPr lvl="1"/>
            <a:r>
              <a:rPr lang="en-US" dirty="0" smtClean="0"/>
              <a:t>S=Ps(C=c)</a:t>
            </a:r>
            <a:r>
              <a:rPr lang="en-US" dirty="0" err="1" smtClean="0"/>
              <a:t>Pe</a:t>
            </a:r>
            <a:r>
              <a:rPr lang="en-US" dirty="0" smtClean="0"/>
              <a:t>(E=</a:t>
            </a:r>
            <a:r>
              <a:rPr lang="en-US" dirty="0" err="1" smtClean="0"/>
              <a:t>e|T</a:t>
            </a:r>
            <a:r>
              <a:rPr lang="en-US" dirty="0" smtClean="0"/>
              <a:t>=t)Pc(C=</a:t>
            </a:r>
            <a:r>
              <a:rPr lang="en-US" dirty="0" err="1" smtClean="0"/>
              <a:t>c|E</a:t>
            </a:r>
            <a:r>
              <a:rPr lang="en-US" dirty="0" smtClean="0"/>
              <a:t>=e) sum over all </a:t>
            </a:r>
            <a:r>
              <a:rPr lang="en-US" dirty="0" err="1" smtClean="0"/>
              <a:t>c,e,t</a:t>
            </a:r>
            <a:endParaRPr lang="en-US" dirty="0" smtClean="0"/>
          </a:p>
          <a:p>
            <a:r>
              <a:rPr lang="en-US" dirty="0" smtClean="0"/>
              <a:t>Expected Number of Failed Transactions</a:t>
            </a:r>
          </a:p>
          <a:p>
            <a:pPr lvl="1"/>
            <a:r>
              <a:rPr lang="en-US" dirty="0" smtClean="0"/>
              <a:t>F=(1-</a:t>
            </a:r>
            <a:r>
              <a:rPr lang="en-US" dirty="0" smtClean="0"/>
              <a:t>Ps(C=c))</a:t>
            </a:r>
            <a:r>
              <a:rPr lang="en-US" dirty="0" err="1" smtClean="0"/>
              <a:t>Pe</a:t>
            </a:r>
            <a:r>
              <a:rPr lang="en-US" dirty="0" smtClean="0"/>
              <a:t>(E=</a:t>
            </a:r>
            <a:r>
              <a:rPr lang="en-US" dirty="0" err="1" smtClean="0"/>
              <a:t>e|T</a:t>
            </a:r>
            <a:r>
              <a:rPr lang="en-US" dirty="0" smtClean="0"/>
              <a:t>=t)Pc(C=</a:t>
            </a:r>
            <a:r>
              <a:rPr lang="en-US" dirty="0" err="1" smtClean="0"/>
              <a:t>c|E</a:t>
            </a:r>
            <a:r>
              <a:rPr lang="en-US" dirty="0" smtClean="0"/>
              <a:t>=e) sum over all </a:t>
            </a:r>
            <a:r>
              <a:rPr lang="en-US" dirty="0" err="1" smtClean="0"/>
              <a:t>c,e,t</a:t>
            </a:r>
            <a:endParaRPr lang="en-US" dirty="0" smtClean="0"/>
          </a:p>
          <a:p>
            <a:r>
              <a:rPr lang="en-US" dirty="0" smtClean="0"/>
              <a:t>Expected Availability Ratio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=S/(S+F)</a:t>
            </a:r>
          </a:p>
          <a:p>
            <a:r>
              <a:rPr lang="en-US" dirty="0" smtClean="0"/>
              <a:t>Expected revenues</a:t>
            </a:r>
          </a:p>
          <a:p>
            <a:pPr lvl="1"/>
            <a:r>
              <a:rPr lang="en-US" dirty="0" smtClean="0"/>
              <a:t>R=</a:t>
            </a:r>
            <a:r>
              <a:rPr lang="en-US" dirty="0" err="1" smtClean="0"/>
              <a:t>RevenueShare</a:t>
            </a:r>
            <a:r>
              <a:rPr lang="en-US" dirty="0" smtClean="0"/>
              <a:t>(A)*ARPE*S-Fine(A)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</TotalTime>
  <Words>196</Words>
  <Application>Microsoft Office PowerPoint</Application>
  <PresentationFormat>On-screen Show (4:3)</PresentationFormat>
  <Paragraphs>44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Decision Support Tool</vt:lpstr>
      <vt:lpstr>Server load and performance</vt:lpstr>
      <vt:lpstr>Revenue share policies</vt:lpstr>
      <vt:lpstr>Revenue per server</vt:lpstr>
    </vt:vector>
  </TitlesOfParts>
  <Company>Amdocs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Tool</dc:title>
  <dc:creator>Amdocs</dc:creator>
  <cp:lastModifiedBy>Amdocs</cp:lastModifiedBy>
  <cp:revision>36</cp:revision>
  <dcterms:created xsi:type="dcterms:W3CDTF">2011-02-17T09:17:32Z</dcterms:created>
  <dcterms:modified xsi:type="dcterms:W3CDTF">2011-02-19T08:17:13Z</dcterms:modified>
</cp:coreProperties>
</file>