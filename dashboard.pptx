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Default Extension="gif" ContentType="image/gif"/>
  <Override PartName="/ppt/charts/chart3.xml" ContentType="application/vnd.openxmlformats-officedocument.drawingml.char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87" r:id="rId2"/>
    <p:sldId id="288" r:id="rId3"/>
    <p:sldId id="289" r:id="rId4"/>
    <p:sldId id="290" r:id="rId5"/>
    <p:sldId id="291" r:id="rId6"/>
    <p:sldId id="292" r:id="rId7"/>
  </p:sldIdLst>
  <p:sldSz cx="9144000" cy="6858000" type="screen4x3"/>
  <p:notesSz cx="6858000" cy="9144000"/>
  <p:custDataLst>
    <p:tags r:id="rId10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illi Shama" initials="Gilli" lastIdx="1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84E8"/>
    <a:srgbClr val="5781AE"/>
    <a:srgbClr val="3875CE"/>
    <a:srgbClr val="898989"/>
    <a:srgbClr val="000000"/>
    <a:srgbClr val="1B558A"/>
    <a:srgbClr val="0096D2"/>
    <a:srgbClr val="0C7DE8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44" autoAdjust="0"/>
    <p:restoredTop sz="94595" autoAdjust="0"/>
  </p:normalViewPr>
  <p:slideViewPr>
    <p:cSldViewPr snapToGrid="0">
      <p:cViewPr varScale="1">
        <p:scale>
          <a:sx n="93" d="100"/>
          <a:sy n="93" d="100"/>
        </p:scale>
        <p:origin x="-1014" y="-96"/>
      </p:cViewPr>
      <p:guideLst>
        <p:guide orient="horz" pos="215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Sapartsi\Desktop\Local_CAT\elad\Summary1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Sapartsi\Desktop\Local_CAT\elad\Summary1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Sapartsi\Desktop\Local_CAT\elad\Summary1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plotArea>
      <c:layout/>
      <c:scatterChart>
        <c:scatterStyle val="smoothMarker"/>
        <c:ser>
          <c:idx val="1"/>
          <c:order val="0"/>
          <c:tx>
            <c:strRef>
              <c:f>PivotByVal!$D$1</c:f>
              <c:strCache>
                <c:ptCount val="1"/>
                <c:pt idx="0">
                  <c:v>Average of CM CPU AVG</c:v>
                </c:pt>
              </c:strCache>
            </c:strRef>
          </c:tx>
          <c:xVal>
            <c:numRef>
              <c:f>PivotByVal!$A$2:$A$4</c:f>
              <c:numCache>
                <c:formatCode>0%</c:formatCode>
                <c:ptCount val="3"/>
                <c:pt idx="0">
                  <c:v>0.7</c:v>
                </c:pt>
                <c:pt idx="1">
                  <c:v>1</c:v>
                </c:pt>
                <c:pt idx="2">
                  <c:v>1.2</c:v>
                </c:pt>
              </c:numCache>
            </c:numRef>
          </c:xVal>
          <c:yVal>
            <c:numRef>
              <c:f>PivotByVal!$D$2:$D$4</c:f>
              <c:numCache>
                <c:formatCode>0.00%</c:formatCode>
                <c:ptCount val="3"/>
                <c:pt idx="0">
                  <c:v>0.56864705882352862</c:v>
                </c:pt>
                <c:pt idx="1">
                  <c:v>0.62759166666666721</c:v>
                </c:pt>
                <c:pt idx="2">
                  <c:v>0.35880000000000001</c:v>
                </c:pt>
              </c:numCache>
            </c:numRef>
          </c:yVal>
          <c:smooth val="1"/>
        </c:ser>
        <c:ser>
          <c:idx val="3"/>
          <c:order val="1"/>
          <c:tx>
            <c:strRef>
              <c:f>PivotByVal!$H$1</c:f>
              <c:strCache>
                <c:ptCount val="1"/>
                <c:pt idx="0">
                  <c:v>Max of CM CPU AVG</c:v>
                </c:pt>
              </c:strCache>
            </c:strRef>
          </c:tx>
          <c:xVal>
            <c:numRef>
              <c:f>PivotByVal!$A$2:$A$4</c:f>
              <c:numCache>
                <c:formatCode>0%</c:formatCode>
                <c:ptCount val="3"/>
                <c:pt idx="0">
                  <c:v>0.7</c:v>
                </c:pt>
                <c:pt idx="1">
                  <c:v>1</c:v>
                </c:pt>
                <c:pt idx="2">
                  <c:v>1.2</c:v>
                </c:pt>
              </c:numCache>
            </c:numRef>
          </c:xVal>
          <c:yVal>
            <c:numRef>
              <c:f>PivotByVal!$H$2:$H$4</c:f>
              <c:numCache>
                <c:formatCode>0.00%</c:formatCode>
                <c:ptCount val="3"/>
                <c:pt idx="0">
                  <c:v>0.65280000000000005</c:v>
                </c:pt>
                <c:pt idx="1">
                  <c:v>0.65969999999999995</c:v>
                </c:pt>
                <c:pt idx="2">
                  <c:v>0.35880000000000001</c:v>
                </c:pt>
              </c:numCache>
            </c:numRef>
          </c:yVal>
          <c:smooth val="1"/>
        </c:ser>
        <c:ser>
          <c:idx val="0"/>
          <c:order val="2"/>
          <c:tx>
            <c:strRef>
              <c:f>PivotByVal!$B$1</c:f>
              <c:strCache>
                <c:ptCount val="1"/>
                <c:pt idx="0">
                  <c:v>Average of CM DB CPU%</c:v>
                </c:pt>
              </c:strCache>
            </c:strRef>
          </c:tx>
          <c:xVal>
            <c:numRef>
              <c:f>PivotByVal!$A$2:$A$4</c:f>
              <c:numCache>
                <c:formatCode>0%</c:formatCode>
                <c:ptCount val="3"/>
                <c:pt idx="0">
                  <c:v>0.7</c:v>
                </c:pt>
                <c:pt idx="1">
                  <c:v>1</c:v>
                </c:pt>
                <c:pt idx="2">
                  <c:v>1.2</c:v>
                </c:pt>
              </c:numCache>
            </c:numRef>
          </c:xVal>
          <c:yVal>
            <c:numRef>
              <c:f>PivotByVal!$B$2:$B$4</c:f>
              <c:numCache>
                <c:formatCode>0.00%</c:formatCode>
                <c:ptCount val="3"/>
                <c:pt idx="0">
                  <c:v>0.120907843137255</c:v>
                </c:pt>
                <c:pt idx="1">
                  <c:v>0.22528749999999997</c:v>
                </c:pt>
                <c:pt idx="2">
                  <c:v>0.130583333333333</c:v>
                </c:pt>
              </c:numCache>
            </c:numRef>
          </c:yVal>
          <c:smooth val="1"/>
        </c:ser>
        <c:ser>
          <c:idx val="4"/>
          <c:order val="3"/>
          <c:tx>
            <c:strRef>
              <c:f>PivotByVal!$I$1</c:f>
              <c:strCache>
                <c:ptCount val="1"/>
                <c:pt idx="0">
                  <c:v>Max of CM DB CPU%</c:v>
                </c:pt>
              </c:strCache>
            </c:strRef>
          </c:tx>
          <c:xVal>
            <c:numRef>
              <c:f>PivotByVal!$A$2:$A$4</c:f>
              <c:numCache>
                <c:formatCode>0%</c:formatCode>
                <c:ptCount val="3"/>
                <c:pt idx="0">
                  <c:v>0.7</c:v>
                </c:pt>
                <c:pt idx="1">
                  <c:v>1</c:v>
                </c:pt>
                <c:pt idx="2">
                  <c:v>1.2</c:v>
                </c:pt>
              </c:numCache>
            </c:numRef>
          </c:xVal>
          <c:yVal>
            <c:numRef>
              <c:f>PivotByVal!$I$2:$I$4</c:f>
              <c:numCache>
                <c:formatCode>0.00%</c:formatCode>
                <c:ptCount val="3"/>
                <c:pt idx="0">
                  <c:v>0.23</c:v>
                </c:pt>
                <c:pt idx="1">
                  <c:v>0.55159999999999998</c:v>
                </c:pt>
                <c:pt idx="2">
                  <c:v>0.24160000000000001</c:v>
                </c:pt>
              </c:numCache>
            </c:numRef>
          </c:yVal>
          <c:smooth val="1"/>
        </c:ser>
        <c:axId val="81107584"/>
        <c:axId val="85743872"/>
      </c:scatterChart>
      <c:valAx>
        <c:axId val="81107584"/>
        <c:scaling>
          <c:orientation val="minMax"/>
          <c:min val="0.7000000000000004"/>
        </c:scaling>
        <c:axPos val="b"/>
        <c:numFmt formatCode="0%" sourceLinked="1"/>
        <c:tickLblPos val="nextTo"/>
        <c:crossAx val="85743872"/>
        <c:crosses val="autoZero"/>
        <c:crossBetween val="midCat"/>
      </c:valAx>
      <c:valAx>
        <c:axId val="85743872"/>
        <c:scaling>
          <c:orientation val="minMax"/>
        </c:scaling>
        <c:axPos val="l"/>
        <c:majorGridlines/>
        <c:numFmt formatCode="0.00%" sourceLinked="1"/>
        <c:tickLblPos val="nextTo"/>
        <c:crossAx val="81107584"/>
        <c:crosses val="autoZero"/>
        <c:crossBetween val="midCat"/>
      </c:valAx>
    </c:plotArea>
    <c:legend>
      <c:legendPos val="r"/>
      <c:layout/>
    </c:legend>
    <c:plotVisOnly val="1"/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plotArea>
      <c:layout/>
      <c:scatterChart>
        <c:scatterStyle val="smoothMarker"/>
        <c:ser>
          <c:idx val="1"/>
          <c:order val="0"/>
          <c:tx>
            <c:strRef>
              <c:f>'2points'!$F$1</c:f>
              <c:strCache>
                <c:ptCount val="1"/>
                <c:pt idx="0">
                  <c:v>Average of CM CPU AVG</c:v>
                </c:pt>
              </c:strCache>
            </c:strRef>
          </c:tx>
          <c:xVal>
            <c:numRef>
              <c:f>'2points'!$A$2:$A$4</c:f>
              <c:numCache>
                <c:formatCode>0%</c:formatCode>
                <c:ptCount val="2"/>
                <c:pt idx="0">
                  <c:v>0.7</c:v>
                </c:pt>
                <c:pt idx="1">
                  <c:v>1</c:v>
                </c:pt>
              </c:numCache>
            </c:numRef>
          </c:xVal>
          <c:yVal>
            <c:numRef>
              <c:f>'2points'!$F$2:$F$4</c:f>
              <c:numCache>
                <c:formatCode>0.00%</c:formatCode>
                <c:ptCount val="2"/>
                <c:pt idx="0">
                  <c:v>0.56864705882352862</c:v>
                </c:pt>
                <c:pt idx="1">
                  <c:v>0.62759166666666721</c:v>
                </c:pt>
              </c:numCache>
            </c:numRef>
          </c:yVal>
          <c:smooth val="1"/>
        </c:ser>
        <c:ser>
          <c:idx val="0"/>
          <c:order val="1"/>
          <c:tx>
            <c:strRef>
              <c:f>'2points'!$B$1</c:f>
              <c:strCache>
                <c:ptCount val="1"/>
                <c:pt idx="0">
                  <c:v>Average of CM DB CPU%</c:v>
                </c:pt>
              </c:strCache>
            </c:strRef>
          </c:tx>
          <c:xVal>
            <c:numRef>
              <c:f>'2points'!$A$2:$A$4</c:f>
              <c:numCache>
                <c:formatCode>0%</c:formatCode>
                <c:ptCount val="2"/>
                <c:pt idx="0">
                  <c:v>0.7</c:v>
                </c:pt>
                <c:pt idx="1">
                  <c:v>1</c:v>
                </c:pt>
              </c:numCache>
            </c:numRef>
          </c:xVal>
          <c:yVal>
            <c:numRef>
              <c:f>'2points'!$B$2:$B$4</c:f>
              <c:numCache>
                <c:formatCode>0.00%</c:formatCode>
                <c:ptCount val="2"/>
                <c:pt idx="0">
                  <c:v>0.120907843137255</c:v>
                </c:pt>
                <c:pt idx="1">
                  <c:v>0.22528749999999997</c:v>
                </c:pt>
              </c:numCache>
            </c:numRef>
          </c:yVal>
          <c:smooth val="1"/>
        </c:ser>
        <c:ser>
          <c:idx val="2"/>
          <c:order val="2"/>
          <c:tx>
            <c:strRef>
              <c:f>'2points'!$H$1</c:f>
              <c:strCache>
                <c:ptCount val="1"/>
                <c:pt idx="0">
                  <c:v>AVG+3STD</c:v>
                </c:pt>
              </c:strCache>
            </c:strRef>
          </c:tx>
          <c:spPr>
            <a:ln>
              <a:solidFill>
                <a:schemeClr val="tx1">
                  <a:lumMod val="95000"/>
                  <a:lumOff val="5000"/>
                </a:schemeClr>
              </a:solidFill>
              <a:prstDash val="dash"/>
            </a:ln>
          </c:spPr>
          <c:xVal>
            <c:numRef>
              <c:f>'2points'!$A$2:$A$3</c:f>
              <c:numCache>
                <c:formatCode>0%</c:formatCode>
                <c:ptCount val="2"/>
                <c:pt idx="0">
                  <c:v>0.7</c:v>
                </c:pt>
                <c:pt idx="1">
                  <c:v>1</c:v>
                </c:pt>
              </c:numCache>
            </c:numRef>
          </c:xVal>
          <c:yVal>
            <c:numRef>
              <c:f>'2points'!$H$2:$H$3</c:f>
              <c:numCache>
                <c:formatCode>0.00%</c:formatCode>
                <c:ptCount val="2"/>
                <c:pt idx="0">
                  <c:v>0.91018719223343247</c:v>
                </c:pt>
                <c:pt idx="1">
                  <c:v>0.74853715201244087</c:v>
                </c:pt>
              </c:numCache>
            </c:numRef>
          </c:yVal>
          <c:smooth val="1"/>
        </c:ser>
        <c:ser>
          <c:idx val="3"/>
          <c:order val="3"/>
          <c:tx>
            <c:strRef>
              <c:f>'2points'!$I$1</c:f>
              <c:strCache>
                <c:ptCount val="1"/>
                <c:pt idx="0">
                  <c:v>AVG-3STD</c:v>
                </c:pt>
              </c:strCache>
            </c:strRef>
          </c:tx>
          <c:spPr>
            <a:ln>
              <a:solidFill>
                <a:schemeClr val="tx1"/>
              </a:solidFill>
              <a:prstDash val="dash"/>
            </a:ln>
          </c:spPr>
          <c:xVal>
            <c:numRef>
              <c:f>'2points'!$A$2:$A$3</c:f>
              <c:numCache>
                <c:formatCode>0%</c:formatCode>
                <c:ptCount val="2"/>
                <c:pt idx="0">
                  <c:v>0.7</c:v>
                </c:pt>
                <c:pt idx="1">
                  <c:v>1</c:v>
                </c:pt>
              </c:numCache>
            </c:numRef>
          </c:xVal>
          <c:yVal>
            <c:numRef>
              <c:f>'2points'!$I$2:$I$3</c:f>
              <c:numCache>
                <c:formatCode>0.00%</c:formatCode>
                <c:ptCount val="2"/>
                <c:pt idx="0">
                  <c:v>0.22710692541362476</c:v>
                </c:pt>
                <c:pt idx="1">
                  <c:v>0.50664618132089356</c:v>
                </c:pt>
              </c:numCache>
            </c:numRef>
          </c:yVal>
          <c:smooth val="1"/>
        </c:ser>
        <c:axId val="73414912"/>
        <c:axId val="81099776"/>
      </c:scatterChart>
      <c:valAx>
        <c:axId val="73414912"/>
        <c:scaling>
          <c:orientation val="minMax"/>
          <c:min val="0.70000000000000062"/>
        </c:scaling>
        <c:axPos val="b"/>
        <c:numFmt formatCode="0%" sourceLinked="1"/>
        <c:tickLblPos val="nextTo"/>
        <c:crossAx val="81099776"/>
        <c:crosses val="autoZero"/>
        <c:crossBetween val="midCat"/>
      </c:valAx>
      <c:valAx>
        <c:axId val="81099776"/>
        <c:scaling>
          <c:orientation val="minMax"/>
        </c:scaling>
        <c:axPos val="l"/>
        <c:majorGridlines/>
        <c:numFmt formatCode="0.00%" sourceLinked="1"/>
        <c:tickLblPos val="nextTo"/>
        <c:crossAx val="73414912"/>
        <c:crosses val="autoZero"/>
        <c:crossBetween val="midCat"/>
      </c:valAx>
    </c:plotArea>
    <c:legend>
      <c:legendPos val="r"/>
      <c:layout/>
    </c:legend>
    <c:plotVisOnly val="1"/>
  </c:chart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plotArea>
      <c:layout/>
      <c:scatterChart>
        <c:scatterStyle val="smoothMarker"/>
        <c:ser>
          <c:idx val="0"/>
          <c:order val="0"/>
          <c:tx>
            <c:strRef>
              <c:f>'2points log-normal'!$D$1</c:f>
              <c:strCache>
                <c:ptCount val="1"/>
                <c:pt idx="0">
                  <c:v>CM CPU AVG</c:v>
                </c:pt>
              </c:strCache>
            </c:strRef>
          </c:tx>
          <c:xVal>
            <c:numRef>
              <c:f>'2points log-normal'!$A$2:$A$3</c:f>
              <c:numCache>
                <c:formatCode>0%</c:formatCode>
                <c:ptCount val="2"/>
                <c:pt idx="0">
                  <c:v>0.7</c:v>
                </c:pt>
                <c:pt idx="1">
                  <c:v>1</c:v>
                </c:pt>
              </c:numCache>
            </c:numRef>
          </c:xVal>
          <c:yVal>
            <c:numRef>
              <c:f>'2points log-normal'!$D$2:$D$3</c:f>
              <c:numCache>
                <c:formatCode>0.00%</c:formatCode>
                <c:ptCount val="2"/>
                <c:pt idx="0">
                  <c:v>0.5716815915936585</c:v>
                </c:pt>
                <c:pt idx="1">
                  <c:v>0.62764811251416619</c:v>
                </c:pt>
              </c:numCache>
            </c:numRef>
          </c:yVal>
          <c:smooth val="1"/>
        </c:ser>
        <c:ser>
          <c:idx val="1"/>
          <c:order val="1"/>
          <c:tx>
            <c:strRef>
              <c:f>'2points log-normal'!$F$1</c:f>
              <c:strCache>
                <c:ptCount val="1"/>
                <c:pt idx="0">
                  <c:v>CM CPU+3std</c:v>
                </c:pt>
              </c:strCache>
            </c:strRef>
          </c:tx>
          <c:spPr>
            <a:ln>
              <a:solidFill>
                <a:schemeClr val="tx1"/>
              </a:solidFill>
              <a:prstDash val="dash"/>
            </a:ln>
          </c:spPr>
          <c:xVal>
            <c:numRef>
              <c:f>'2points log-normal'!$A$2:$A$3</c:f>
              <c:numCache>
                <c:formatCode>0%</c:formatCode>
                <c:ptCount val="2"/>
                <c:pt idx="0">
                  <c:v>0.7</c:v>
                </c:pt>
                <c:pt idx="1">
                  <c:v>1</c:v>
                </c:pt>
              </c:numCache>
            </c:numRef>
          </c:xVal>
          <c:yVal>
            <c:numRef>
              <c:f>'2points log-normal'!$F$2:$F$3</c:f>
              <c:numCache>
                <c:formatCode>0.00%</c:formatCode>
                <c:ptCount val="2"/>
                <c:pt idx="0">
                  <c:v>0.63840631215802879</c:v>
                </c:pt>
                <c:pt idx="1">
                  <c:v>0.63285206979087727</c:v>
                </c:pt>
              </c:numCache>
            </c:numRef>
          </c:yVal>
          <c:smooth val="1"/>
        </c:ser>
        <c:ser>
          <c:idx val="2"/>
          <c:order val="2"/>
          <c:tx>
            <c:strRef>
              <c:f>'2points log-normal'!$G$1</c:f>
              <c:strCache>
                <c:ptCount val="1"/>
                <c:pt idx="0">
                  <c:v>CM CPU -3std</c:v>
                </c:pt>
              </c:strCache>
            </c:strRef>
          </c:tx>
          <c:spPr>
            <a:ln>
              <a:solidFill>
                <a:sysClr val="windowText" lastClr="000000"/>
              </a:solidFill>
              <a:prstDash val="dash"/>
            </a:ln>
          </c:spPr>
          <c:xVal>
            <c:numRef>
              <c:f>'2points log-normal'!$A$2:$A$3</c:f>
              <c:numCache>
                <c:formatCode>0%</c:formatCode>
                <c:ptCount val="2"/>
                <c:pt idx="0">
                  <c:v>0.7</c:v>
                </c:pt>
                <c:pt idx="1">
                  <c:v>1</c:v>
                </c:pt>
              </c:numCache>
            </c:numRef>
          </c:xVal>
          <c:yVal>
            <c:numRef>
              <c:f>'2points log-normal'!$G$2:$G$3</c:f>
              <c:numCache>
                <c:formatCode>0.00%</c:formatCode>
                <c:ptCount val="2"/>
                <c:pt idx="0">
                  <c:v>0.50495687102928821</c:v>
                </c:pt>
                <c:pt idx="1">
                  <c:v>0.62244415523745511</c:v>
                </c:pt>
              </c:numCache>
            </c:numRef>
          </c:yVal>
          <c:smooth val="1"/>
        </c:ser>
        <c:axId val="70449408"/>
        <c:axId val="70956160"/>
      </c:scatterChart>
      <c:valAx>
        <c:axId val="70449408"/>
        <c:scaling>
          <c:orientation val="minMax"/>
          <c:min val="0.70000000000000029"/>
        </c:scaling>
        <c:axPos val="b"/>
        <c:numFmt formatCode="0%" sourceLinked="1"/>
        <c:tickLblPos val="nextTo"/>
        <c:crossAx val="70956160"/>
        <c:crosses val="autoZero"/>
        <c:crossBetween val="midCat"/>
      </c:valAx>
      <c:valAx>
        <c:axId val="70956160"/>
        <c:scaling>
          <c:orientation val="minMax"/>
          <c:min val="0.4"/>
        </c:scaling>
        <c:axPos val="l"/>
        <c:majorGridlines/>
        <c:numFmt formatCode="0.00%" sourceLinked="1"/>
        <c:tickLblPos val="nextTo"/>
        <c:crossAx val="70449408"/>
        <c:crosses val="autoZero"/>
        <c:crossBetween val="midCat"/>
      </c:valAx>
    </c:plotArea>
    <c:legend>
      <c:legendPos val="r"/>
      <c:layout/>
    </c:legend>
    <c:plotVisOnly val="1"/>
  </c:chart>
  <c:externalData r:id="rId1"/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95F889A1-8356-4AC1-926D-9DD6187B41C4}" type="datetimeFigureOut">
              <a:rPr lang="en-US"/>
              <a:pPr>
                <a:defRPr/>
              </a:pPr>
              <a:t>1/5/2011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FEA07CB-8B35-4445-BCD9-DFF1193DA13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517BE8C-904A-4680-8222-5B7575916879}" type="datetimeFigureOut">
              <a:rPr lang="en-US"/>
              <a:pPr>
                <a:defRPr/>
              </a:pPr>
              <a:t>1/5/2011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7374ED18-3826-4065-B3EA-41C12AFF675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74ED18-3826-4065-B3EA-41C12AFF6758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jpeg"/><Relationship Id="rId4" Type="http://schemas.openxmlformats.org/officeDocument/2006/relationships/image" Target="../media/image7.gif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gif"/><Relationship Id="rId4" Type="http://schemas.openxmlformats.org/officeDocument/2006/relationships/image" Target="../media/image6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3761" y="1598400"/>
            <a:ext cx="8540496" cy="457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defRPr/>
            </a:lvl1pPr>
            <a:lvl2pPr>
              <a:lnSpc>
                <a:spcPct val="100000"/>
              </a:lnSpc>
              <a:spcBef>
                <a:spcPts val="500"/>
              </a:spcBef>
              <a:defRPr/>
            </a:lvl2pPr>
            <a:lvl3pPr>
              <a:lnSpc>
                <a:spcPct val="100000"/>
              </a:lnSpc>
              <a:spcBef>
                <a:spcPts val="500"/>
              </a:spcBef>
              <a:defRPr/>
            </a:lvl3pPr>
            <a:lvl4pPr>
              <a:lnSpc>
                <a:spcPct val="100000"/>
              </a:lnSpc>
              <a:spcBef>
                <a:spcPts val="500"/>
              </a:spcBef>
              <a:defRPr/>
            </a:lvl4pPr>
            <a:lvl5pPr>
              <a:lnSpc>
                <a:spcPct val="100000"/>
              </a:lnSpc>
              <a:spcBef>
                <a:spcPts val="500"/>
              </a:spcBef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03761" y="466725"/>
            <a:ext cx="8540750" cy="8096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3761" y="466725"/>
            <a:ext cx="8540750" cy="8096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4-02137_Utility_Image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46788" y="0"/>
            <a:ext cx="30956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 bwMode="ltGray">
          <a:xfrm>
            <a:off x="179388" y="179388"/>
            <a:ext cx="8782050" cy="116522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Title Placeholder 1"/>
          <p:cNvSpPr txBox="1">
            <a:spLocks/>
          </p:cNvSpPr>
          <p:nvPr/>
        </p:nvSpPr>
        <p:spPr bwMode="black">
          <a:xfrm>
            <a:off x="293688" y="266700"/>
            <a:ext cx="8507412" cy="13811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900" dirty="0">
                <a:solidFill>
                  <a:srgbClr val="FFF200"/>
                </a:solidFill>
                <a:latin typeface="Arial" pitchFamily="34" charset="0"/>
                <a:ea typeface="+mj-ea"/>
                <a:cs typeface="Arial" pitchFamily="34" charset="0"/>
              </a:rPr>
              <a:t>AMDOCS &gt; CUSTOMER EXPERIENCE SYSTEMS INNOVATION</a:t>
            </a:r>
          </a:p>
        </p:txBody>
      </p:sp>
      <p:sp>
        <p:nvSpPr>
          <p:cNvPr id="7" name="Rectangle 6"/>
          <p:cNvSpPr/>
          <p:nvPr/>
        </p:nvSpPr>
        <p:spPr bwMode="ltGray">
          <a:xfrm>
            <a:off x="179388" y="1390650"/>
            <a:ext cx="8782050" cy="5467350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8" name="Picture 16" descr="Amdocs_logo_white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96800" y="6451200"/>
            <a:ext cx="116205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911225" y="6516688"/>
            <a:ext cx="5905143" cy="230832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l" defTabSz="914363" fontAlgn="auto">
              <a:spcBef>
                <a:spcPts val="0"/>
              </a:spcBef>
              <a:spcAft>
                <a:spcPts val="0"/>
              </a:spcAft>
              <a:tabLst>
                <a:tab pos="2577600" algn="l"/>
              </a:tabLst>
              <a:defRPr/>
            </a:pPr>
            <a:r>
              <a:rPr lang="en-US" sz="90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Information Security Level 1 – Confidential	© 2010 – Proprietary and Confidential Information of Amdocs</a:t>
            </a:r>
            <a:endParaRPr lang="en-US" sz="9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8800" y="6513513"/>
            <a:ext cx="5969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F0AF4D74-0A44-4AF7-9EB2-AD0251B3E8F3}" type="slidenum">
              <a:rPr lang="en-US" sz="9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 bwMode="black">
          <a:xfrm>
            <a:off x="300586" y="1598849"/>
            <a:ext cx="5641848" cy="457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defRPr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black">
          <a:xfrm>
            <a:off x="302761" y="466598"/>
            <a:ext cx="5639922" cy="80945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Utility_Slide_Sidebar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02525" y="0"/>
            <a:ext cx="16383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 bwMode="ltGray">
          <a:xfrm>
            <a:off x="179388" y="179388"/>
            <a:ext cx="8782050" cy="116522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Title Placeholder 1"/>
          <p:cNvSpPr txBox="1">
            <a:spLocks/>
          </p:cNvSpPr>
          <p:nvPr/>
        </p:nvSpPr>
        <p:spPr bwMode="black">
          <a:xfrm>
            <a:off x="293688" y="266700"/>
            <a:ext cx="8507412" cy="13811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900" dirty="0">
                <a:solidFill>
                  <a:srgbClr val="FFF200"/>
                </a:solidFill>
                <a:latin typeface="Arial" pitchFamily="34" charset="0"/>
                <a:ea typeface="+mj-ea"/>
                <a:cs typeface="Arial" pitchFamily="34" charset="0"/>
              </a:rPr>
              <a:t>AMDOCS &gt; CUSTOMER EXPERIENCE SYSTEMS INNOVATION</a:t>
            </a:r>
          </a:p>
        </p:txBody>
      </p:sp>
      <p:pic>
        <p:nvPicPr>
          <p:cNvPr id="7" name="Picture 12" descr="Amdocs_logo_white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96800" y="6451200"/>
            <a:ext cx="116205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911225" y="6516688"/>
            <a:ext cx="5905143" cy="230832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l" defTabSz="914363" fontAlgn="auto">
              <a:spcBef>
                <a:spcPts val="0"/>
              </a:spcBef>
              <a:spcAft>
                <a:spcPts val="0"/>
              </a:spcAft>
              <a:tabLst>
                <a:tab pos="2577600" algn="l"/>
              </a:tabLst>
              <a:defRPr/>
            </a:pPr>
            <a:r>
              <a:rPr lang="en-US" sz="900" smtClean="0">
                <a:solidFill>
                  <a:srgbClr val="898989"/>
                </a:solidFill>
                <a:latin typeface="Arial" pitchFamily="34" charset="0"/>
                <a:cs typeface="Arial" pitchFamily="34" charset="0"/>
              </a:rPr>
              <a:t>Information Security Level 1 – Confidential	© 2010 – Proprietary and Confidential Information of Amdocs</a:t>
            </a:r>
            <a:endParaRPr lang="en-US" sz="900" dirty="0">
              <a:solidFill>
                <a:srgbClr val="89898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7963" y="6513513"/>
            <a:ext cx="5969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6B529999-AED5-4E6F-94DD-EAF23DA3DE51}" type="slidenum">
              <a:rPr lang="en-US" sz="900">
                <a:solidFill>
                  <a:srgbClr val="898989"/>
                </a:solidFill>
                <a:latin typeface="Arial" pitchFamily="34" charset="0"/>
                <a:cs typeface="Arial" pitchFamily="34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rgbClr val="89898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/>
          </p:nvPr>
        </p:nvSpPr>
        <p:spPr>
          <a:xfrm>
            <a:off x="303761" y="1598400"/>
            <a:ext cx="7082244" cy="4572824"/>
          </a:xfr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defRPr/>
            </a:lvl1pPr>
            <a:lvl2pPr>
              <a:lnSpc>
                <a:spcPct val="100000"/>
              </a:lnSpc>
              <a:spcBef>
                <a:spcPts val="500"/>
              </a:spcBef>
              <a:defRPr/>
            </a:lvl2pPr>
            <a:lvl3pPr>
              <a:lnSpc>
                <a:spcPct val="100000"/>
              </a:lnSpc>
              <a:spcBef>
                <a:spcPts val="500"/>
              </a:spcBef>
              <a:defRPr/>
            </a:lvl3pPr>
            <a:lvl4pPr>
              <a:lnSpc>
                <a:spcPct val="100000"/>
              </a:lnSpc>
              <a:spcBef>
                <a:spcPts val="500"/>
              </a:spcBef>
              <a:defRPr/>
            </a:lvl4pPr>
            <a:lvl5pPr>
              <a:lnSpc>
                <a:spcPct val="100000"/>
              </a:lnSpc>
              <a:spcBef>
                <a:spcPts val="500"/>
              </a:spcBef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black">
          <a:xfrm>
            <a:off x="303761" y="466725"/>
            <a:ext cx="7081200" cy="8096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8" descr="4-02137_Utility_Image_White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05700" y="0"/>
            <a:ext cx="16383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 bwMode="ltGray">
          <a:xfrm>
            <a:off x="179388" y="179388"/>
            <a:ext cx="8782050" cy="116522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Title Placeholder 1"/>
          <p:cNvSpPr txBox="1">
            <a:spLocks/>
          </p:cNvSpPr>
          <p:nvPr/>
        </p:nvSpPr>
        <p:spPr bwMode="black">
          <a:xfrm>
            <a:off x="293688" y="266700"/>
            <a:ext cx="8507412" cy="13811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900" dirty="0">
                <a:solidFill>
                  <a:srgbClr val="FFF200"/>
                </a:solidFill>
                <a:latin typeface="Arial" pitchFamily="34" charset="0"/>
                <a:ea typeface="+mj-ea"/>
                <a:cs typeface="Arial" pitchFamily="34" charset="0"/>
              </a:rPr>
              <a:t>AMDOCS &gt; CUSTOMER EXPERIENCE SYSTEMS INNOVATION</a:t>
            </a:r>
          </a:p>
        </p:txBody>
      </p:sp>
      <p:pic>
        <p:nvPicPr>
          <p:cNvPr id="7" name="Picture 12" descr="Amdocs_logo_white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96800" y="6451200"/>
            <a:ext cx="116205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911225" y="6516688"/>
            <a:ext cx="5905143" cy="230832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l" defTabSz="914363" fontAlgn="auto">
              <a:spcBef>
                <a:spcPts val="0"/>
              </a:spcBef>
              <a:spcAft>
                <a:spcPts val="0"/>
              </a:spcAft>
              <a:tabLst>
                <a:tab pos="2577600" algn="l"/>
              </a:tabLst>
              <a:defRPr/>
            </a:pPr>
            <a:r>
              <a:rPr lang="en-US" sz="900" smtClean="0">
                <a:solidFill>
                  <a:srgbClr val="898989"/>
                </a:solidFill>
                <a:latin typeface="Arial" pitchFamily="34" charset="0"/>
                <a:cs typeface="Arial" pitchFamily="34" charset="0"/>
              </a:rPr>
              <a:t>Information Security Level 1 – Confidential	© 2010 – Proprietary and Confidential Information of Amdocs</a:t>
            </a:r>
            <a:endParaRPr lang="en-US" sz="900" dirty="0">
              <a:solidFill>
                <a:srgbClr val="89898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7963" y="6513513"/>
            <a:ext cx="5969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6B529999-AED5-4E6F-94DD-EAF23DA3DE51}" type="slidenum">
              <a:rPr lang="en-US" sz="900">
                <a:solidFill>
                  <a:srgbClr val="898989"/>
                </a:solidFill>
                <a:latin typeface="Arial" pitchFamily="34" charset="0"/>
                <a:cs typeface="Arial" pitchFamily="34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rgbClr val="89898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/>
          </p:nvPr>
        </p:nvSpPr>
        <p:spPr bwMode="black">
          <a:xfrm>
            <a:off x="303761" y="1598400"/>
            <a:ext cx="7082244" cy="4572824"/>
          </a:xfr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defRPr/>
            </a:lvl1pPr>
            <a:lvl2pPr>
              <a:lnSpc>
                <a:spcPct val="100000"/>
              </a:lnSpc>
              <a:spcBef>
                <a:spcPts val="500"/>
              </a:spcBef>
              <a:defRPr/>
            </a:lvl2pPr>
            <a:lvl3pPr>
              <a:lnSpc>
                <a:spcPct val="100000"/>
              </a:lnSpc>
              <a:spcBef>
                <a:spcPts val="500"/>
              </a:spcBef>
              <a:defRPr/>
            </a:lvl3pPr>
            <a:lvl4pPr>
              <a:lnSpc>
                <a:spcPct val="100000"/>
              </a:lnSpc>
              <a:spcBef>
                <a:spcPts val="500"/>
              </a:spcBef>
              <a:defRPr/>
            </a:lvl4pPr>
            <a:lvl5pPr>
              <a:lnSpc>
                <a:spcPct val="100000"/>
              </a:lnSpc>
              <a:spcBef>
                <a:spcPts val="500"/>
              </a:spcBef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black">
          <a:xfrm>
            <a:off x="303761" y="466725"/>
            <a:ext cx="7081200" cy="8096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541" y="466725"/>
            <a:ext cx="8540750" cy="8096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able Placeholder 3"/>
          <p:cNvSpPr>
            <a:spLocks noGrp="1"/>
          </p:cNvSpPr>
          <p:nvPr>
            <p:ph type="tbl" sz="quarter" idx="10"/>
          </p:nvPr>
        </p:nvSpPr>
        <p:spPr>
          <a:xfrm>
            <a:off x="303541" y="1598400"/>
            <a:ext cx="8539200" cy="1646237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noProof="0" smtClean="0"/>
              <a:t>Click icon to add table</a:t>
            </a:r>
            <a:endParaRPr lang="en-US" noProof="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238" y="466725"/>
            <a:ext cx="8540750" cy="8096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03238" y="1596730"/>
            <a:ext cx="4039200" cy="3168000"/>
          </a:xfrm>
        </p:spPr>
        <p:txBody>
          <a:bodyPr/>
          <a:lstStyle>
            <a:lvl1pPr>
              <a:spcBef>
                <a:spcPts val="12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500"/>
              </a:spcBef>
              <a:defRPr sz="1800"/>
            </a:lvl3pPr>
            <a:lvl4pPr>
              <a:spcBef>
                <a:spcPts val="500"/>
              </a:spcBef>
              <a:defRPr sz="1800"/>
            </a:lvl4pPr>
            <a:lvl5pPr>
              <a:spcBef>
                <a:spcPts val="500"/>
              </a:spcBef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1"/>
          </p:nvPr>
        </p:nvSpPr>
        <p:spPr>
          <a:xfrm>
            <a:off x="4787527" y="1596730"/>
            <a:ext cx="4039200" cy="3168000"/>
          </a:xfrm>
        </p:spPr>
        <p:txBody>
          <a:bodyPr/>
          <a:lstStyle>
            <a:lvl1pPr>
              <a:spcBef>
                <a:spcPts val="12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500"/>
              </a:spcBef>
              <a:defRPr sz="1800"/>
            </a:lvl3pPr>
            <a:lvl4pPr>
              <a:spcBef>
                <a:spcPts val="500"/>
              </a:spcBef>
              <a:defRPr sz="1800"/>
            </a:lvl4pPr>
            <a:lvl5pPr>
              <a:spcBef>
                <a:spcPts val="500"/>
              </a:spcBef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400" y="466725"/>
            <a:ext cx="8540750" cy="8096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2400" y="2246242"/>
            <a:ext cx="4039200" cy="3168000"/>
          </a:xfrm>
        </p:spPr>
        <p:txBody>
          <a:bodyPr tIns="46800"/>
          <a:lstStyle>
            <a:lvl1pPr>
              <a:spcBef>
                <a:spcPts val="12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500"/>
              </a:spcBef>
              <a:defRPr sz="1800"/>
            </a:lvl3pPr>
            <a:lvl4pPr>
              <a:spcBef>
                <a:spcPts val="500"/>
              </a:spcBef>
              <a:defRPr sz="1800"/>
            </a:lvl4pPr>
            <a:lvl5pPr>
              <a:spcBef>
                <a:spcPts val="500"/>
              </a:spcBef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4791600" y="2246242"/>
            <a:ext cx="4039200" cy="3168000"/>
          </a:xfrm>
        </p:spPr>
        <p:txBody>
          <a:bodyPr tIns="46800"/>
          <a:lstStyle>
            <a:lvl1pPr>
              <a:spcBef>
                <a:spcPts val="12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500"/>
              </a:spcBef>
              <a:defRPr sz="1800"/>
            </a:lvl3pPr>
            <a:lvl4pPr>
              <a:spcBef>
                <a:spcPts val="500"/>
              </a:spcBef>
              <a:defRPr sz="1800"/>
            </a:lvl4pPr>
            <a:lvl5pPr>
              <a:spcBef>
                <a:spcPts val="500"/>
              </a:spcBef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302400" y="1597023"/>
            <a:ext cx="4039200" cy="640800"/>
          </a:xfrm>
        </p:spPr>
        <p:txBody>
          <a:bodyPr bIns="46800" anchor="b"/>
          <a:lstStyle>
            <a:lvl1pPr marL="0" indent="0"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791600" y="1597023"/>
            <a:ext cx="4039200" cy="640800"/>
          </a:xfrm>
        </p:spPr>
        <p:txBody>
          <a:bodyPr bIns="46800" anchor="b"/>
          <a:lstStyle>
            <a:lvl1pPr marL="0" indent="0">
              <a:buNone/>
              <a:defRPr sz="24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-No Top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Amdocs_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96200" y="6451600"/>
            <a:ext cx="1158875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911225" y="6516688"/>
            <a:ext cx="5905143" cy="230832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l" defTabSz="914363" fontAlgn="auto">
              <a:spcBef>
                <a:spcPts val="0"/>
              </a:spcBef>
              <a:spcAft>
                <a:spcPts val="0"/>
              </a:spcAft>
              <a:tabLst>
                <a:tab pos="2577600" algn="l"/>
              </a:tabLst>
              <a:defRPr/>
            </a:pPr>
            <a:r>
              <a:rPr lang="en-US" sz="900" smtClean="0">
                <a:solidFill>
                  <a:srgbClr val="898989"/>
                </a:solidFill>
                <a:latin typeface="Arial" pitchFamily="34" charset="0"/>
                <a:cs typeface="Arial" pitchFamily="34" charset="0"/>
              </a:rPr>
              <a:t>Information Security Level 1 – Confidential	© 2010 – Proprietary and Confidential Information of Amdocs</a:t>
            </a:r>
            <a:endParaRPr lang="en-US" sz="900" dirty="0">
              <a:solidFill>
                <a:srgbClr val="89898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7963" y="6513513"/>
            <a:ext cx="5969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20815420-BD6B-46ED-8954-53C9134E3A0D}" type="slidenum">
              <a:rPr lang="en-US" sz="900">
                <a:solidFill>
                  <a:srgbClr val="898989"/>
                </a:solidFill>
                <a:latin typeface="Arial" pitchFamily="34" charset="0"/>
                <a:cs typeface="Arial" pitchFamily="34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rgbClr val="898989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CS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/>
          <p:cNvSpPr txBox="1">
            <a:spLocks/>
          </p:cNvSpPr>
          <p:nvPr/>
        </p:nvSpPr>
        <p:spPr bwMode="black">
          <a:xfrm>
            <a:off x="293688" y="266700"/>
            <a:ext cx="8507412" cy="13811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+mj-ea"/>
                <a:cs typeface="Arial" pitchFamily="34" charset="0"/>
              </a:rPr>
              <a:t>AMDOCS &gt; CUSTOMER EXPERIENCE SYSTEMS INNOVATION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 bwMode="gray">
          <a:xfrm>
            <a:off x="284163" y="3966672"/>
            <a:ext cx="8691561" cy="498598"/>
          </a:xfrm>
          <a:effectLst/>
        </p:spPr>
        <p:txBody>
          <a:bodyPr wrap="square" anchor="t" anchorCtr="0">
            <a:spAutoFit/>
          </a:bodyPr>
          <a:lstStyle>
            <a:lvl1pPr>
              <a:defRPr sz="3600" b="1">
                <a:solidFill>
                  <a:srgbClr val="404040"/>
                </a:solidFill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 bwMode="gray">
          <a:xfrm>
            <a:off x="298450" y="5866626"/>
            <a:ext cx="4740275" cy="276999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z="1800" b="0" cap="none" baseline="0">
                <a:solidFill>
                  <a:srgbClr val="404040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4"/>
          </p:nvPr>
        </p:nvSpPr>
        <p:spPr bwMode="gray">
          <a:xfrm>
            <a:off x="298450" y="5254376"/>
            <a:ext cx="4740275" cy="3693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400" cap="none" baseline="0">
                <a:solidFill>
                  <a:srgbClr val="404040"/>
                </a:solidFill>
              </a:defRPr>
            </a:lvl1pPr>
            <a:lvl2pPr>
              <a:buFontTx/>
              <a:buNone/>
              <a:defRPr sz="2800">
                <a:solidFill>
                  <a:schemeClr val="bg1"/>
                </a:solidFill>
              </a:defRPr>
            </a:lvl2pPr>
            <a:lvl3pPr>
              <a:buFontTx/>
              <a:buNone/>
              <a:defRPr sz="2400">
                <a:solidFill>
                  <a:schemeClr val="bg1"/>
                </a:solidFill>
              </a:defRPr>
            </a:lvl3pPr>
            <a:lvl4pPr>
              <a:buFontTx/>
              <a:buNone/>
              <a:defRPr sz="2400">
                <a:solidFill>
                  <a:schemeClr val="bg1"/>
                </a:solidFill>
              </a:defRPr>
            </a:lvl4pPr>
            <a:lvl5pPr>
              <a:buFontTx/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4" name="Picture 13" descr="Amdocs_logo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gray">
          <a:xfrm>
            <a:off x="7696200" y="6451600"/>
            <a:ext cx="1158875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 userDrawn="1"/>
        </p:nvSpPr>
        <p:spPr bwMode="gray">
          <a:xfrm>
            <a:off x="911225" y="6516688"/>
            <a:ext cx="5905143" cy="230832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l" defTabSz="914363" fontAlgn="auto">
              <a:spcBef>
                <a:spcPts val="0"/>
              </a:spcBef>
              <a:spcAft>
                <a:spcPts val="0"/>
              </a:spcAft>
              <a:tabLst>
                <a:tab pos="2577600" algn="l"/>
              </a:tabLst>
              <a:defRPr/>
            </a:pPr>
            <a:r>
              <a:rPr lang="en-US" sz="900" smtClean="0">
                <a:solidFill>
                  <a:srgbClr val="898989"/>
                </a:solidFill>
                <a:latin typeface="Arial" pitchFamily="34" charset="0"/>
                <a:cs typeface="Arial" pitchFamily="34" charset="0"/>
              </a:rPr>
              <a:t>Information Security Level 1 – Confidential	© 2010 – Proprietary and Confidential Information of Amdocs</a:t>
            </a:r>
            <a:endParaRPr lang="en-US" sz="900" dirty="0">
              <a:solidFill>
                <a:srgbClr val="89898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 userDrawn="1"/>
        </p:nvSpPr>
        <p:spPr bwMode="gray">
          <a:xfrm>
            <a:off x="207963" y="6513513"/>
            <a:ext cx="5969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2052D708-4193-491A-86DB-5D98D5C2AC06}" type="slidenum">
              <a:rPr lang="en-US" sz="900">
                <a:solidFill>
                  <a:srgbClr val="898989"/>
                </a:solidFill>
                <a:latin typeface="Arial" pitchFamily="34" charset="0"/>
                <a:cs typeface="Arial" pitchFamily="34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rgbClr val="898989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2" name="Group 21"/>
          <p:cNvGrpSpPr/>
          <p:nvPr userDrawn="1"/>
        </p:nvGrpSpPr>
        <p:grpSpPr>
          <a:xfrm>
            <a:off x="182880" y="684213"/>
            <a:ext cx="8783320" cy="2973387"/>
            <a:chOff x="182880" y="684213"/>
            <a:chExt cx="8783320" cy="2973387"/>
          </a:xfrm>
        </p:grpSpPr>
        <p:grpSp>
          <p:nvGrpSpPr>
            <p:cNvPr id="18" name="Group 17"/>
            <p:cNvGrpSpPr/>
            <p:nvPr userDrawn="1"/>
          </p:nvGrpSpPr>
          <p:grpSpPr>
            <a:xfrm>
              <a:off x="5579135" y="684213"/>
              <a:ext cx="1655624" cy="2971800"/>
              <a:chOff x="5579135" y="684213"/>
              <a:chExt cx="1655624" cy="2971800"/>
            </a:xfrm>
          </p:grpSpPr>
          <p:sp>
            <p:nvSpPr>
              <p:cNvPr id="23" name="Rectangle 22"/>
              <p:cNvSpPr/>
              <p:nvPr userDrawn="1"/>
            </p:nvSpPr>
            <p:spPr>
              <a:xfrm>
                <a:off x="5579135" y="684213"/>
                <a:ext cx="1655624" cy="2971800"/>
              </a:xfrm>
              <a:prstGeom prst="rect">
                <a:avLst/>
              </a:prstGeom>
              <a:solidFill>
                <a:srgbClr val="4C4C4C"/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en-US" sz="2000" smtClean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pic>
            <p:nvPicPr>
              <p:cNvPr id="31" name="Picture 30" descr="do_more.gif"/>
              <p:cNvPicPr>
                <a:picLocks noChangeAspect="1"/>
              </p:cNvPicPr>
              <p:nvPr userDrawn="1"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5638800" y="760413"/>
                <a:ext cx="1333500" cy="899908"/>
              </a:xfrm>
              <a:prstGeom prst="rect">
                <a:avLst/>
              </a:prstGeom>
            </p:spPr>
          </p:pic>
        </p:grpSp>
        <p:grpSp>
          <p:nvGrpSpPr>
            <p:cNvPr id="20" name="Group 19"/>
            <p:cNvGrpSpPr/>
            <p:nvPr userDrawn="1"/>
          </p:nvGrpSpPr>
          <p:grpSpPr>
            <a:xfrm>
              <a:off x="7310576" y="684213"/>
              <a:ext cx="1655624" cy="2971800"/>
              <a:chOff x="7310576" y="684213"/>
              <a:chExt cx="1655624" cy="2971800"/>
            </a:xfrm>
          </p:grpSpPr>
          <p:sp>
            <p:nvSpPr>
              <p:cNvPr id="25" name="Rectangle 24"/>
              <p:cNvSpPr/>
              <p:nvPr userDrawn="1"/>
            </p:nvSpPr>
            <p:spPr>
              <a:xfrm>
                <a:off x="7310576" y="684213"/>
                <a:ext cx="1655624" cy="2971800"/>
              </a:xfrm>
              <a:prstGeom prst="rect">
                <a:avLst/>
              </a:prstGeom>
              <a:solidFill>
                <a:srgbClr val="4C4C4C"/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en-US" sz="2000" smtClean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pic>
            <p:nvPicPr>
              <p:cNvPr id="32" name="Picture 31" descr="bullets.gif"/>
              <p:cNvPicPr>
                <a:picLocks noChangeAspect="1"/>
              </p:cNvPicPr>
              <p:nvPr userDrawn="1"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372989" y="765340"/>
                <a:ext cx="1376363" cy="611279"/>
              </a:xfrm>
              <a:prstGeom prst="rect">
                <a:avLst/>
              </a:prstGeom>
            </p:spPr>
          </p:pic>
        </p:grpSp>
        <p:pic>
          <p:nvPicPr>
            <p:cNvPr id="17" name="Picture 16" descr="bcs.jpg"/>
            <p:cNvPicPr preferRelativeResize="0">
              <a:picLocks/>
            </p:cNvPicPr>
            <p:nvPr userDrawn="1"/>
          </p:nvPicPr>
          <p:blipFill>
            <a:blip r:embed="rId5" cstate="print"/>
            <a:stretch>
              <a:fillRect/>
            </a:stretch>
          </p:blipFill>
          <p:spPr>
            <a:xfrm>
              <a:off x="182880" y="685800"/>
              <a:ext cx="5330952" cy="297180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tional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ltGray">
          <a:xfrm>
            <a:off x="179388" y="1390650"/>
            <a:ext cx="8782050" cy="5464175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7" name="Picture 10" descr="Amdocs_logo_white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black">
          <a:xfrm>
            <a:off x="7696800" y="6451200"/>
            <a:ext cx="116205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 bwMode="ltGray">
          <a:xfrm>
            <a:off x="179388" y="179388"/>
            <a:ext cx="8782050" cy="116522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" name="Title Placeholder 1"/>
          <p:cNvSpPr txBox="1">
            <a:spLocks/>
          </p:cNvSpPr>
          <p:nvPr/>
        </p:nvSpPr>
        <p:spPr bwMode="black">
          <a:xfrm>
            <a:off x="293688" y="266700"/>
            <a:ext cx="8507412" cy="13811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900" dirty="0">
                <a:solidFill>
                  <a:srgbClr val="FFF200"/>
                </a:solidFill>
                <a:latin typeface="Arial" pitchFamily="34" charset="0"/>
                <a:ea typeface="+mj-ea"/>
                <a:cs typeface="Arial" pitchFamily="34" charset="0"/>
              </a:rPr>
              <a:t>AMDOCS &gt; CUSTOMER EXPERIENCE SYSTEMS INNOVATION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1225" y="6516688"/>
            <a:ext cx="5905143" cy="230832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l" defTabSz="914363" fontAlgn="auto">
              <a:spcBef>
                <a:spcPts val="0"/>
              </a:spcBef>
              <a:spcAft>
                <a:spcPts val="0"/>
              </a:spcAft>
              <a:tabLst>
                <a:tab pos="2577600" algn="l"/>
              </a:tabLst>
              <a:defRPr/>
            </a:pPr>
            <a:r>
              <a:rPr lang="en-US" sz="90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Information Security Level 1 – Confidential	© 2010 – Proprietary and Confidential Information of Amdocs</a:t>
            </a:r>
            <a:endParaRPr lang="en-US" sz="9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8800" y="6513513"/>
            <a:ext cx="5969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6E6BAE4A-0144-4FB4-B6B7-1158C3F36050}" type="slidenum">
              <a:rPr lang="en-US" sz="9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 bwMode="black">
          <a:xfrm>
            <a:off x="284164" y="1701800"/>
            <a:ext cx="4754562" cy="997196"/>
          </a:xfrm>
          <a:effectLst/>
        </p:spPr>
        <p:txBody>
          <a:bodyPr>
            <a:spAutoFit/>
          </a:bodyPr>
          <a:lstStyle>
            <a:lvl1pPr>
              <a:defRPr sz="3600" b="1">
                <a:solidFill>
                  <a:schemeClr val="accent6"/>
                </a:solidFill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 bwMode="black">
          <a:xfrm>
            <a:off x="298450" y="5866626"/>
            <a:ext cx="4740275" cy="276999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z="18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4"/>
          </p:nvPr>
        </p:nvSpPr>
        <p:spPr bwMode="black">
          <a:xfrm>
            <a:off x="298450" y="4070350"/>
            <a:ext cx="4740275" cy="3693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400" cap="none" baseline="0">
                <a:solidFill>
                  <a:schemeClr val="bg1"/>
                </a:solidFill>
              </a:defRPr>
            </a:lvl1pPr>
            <a:lvl2pPr>
              <a:buFontTx/>
              <a:buNone/>
              <a:defRPr sz="2800">
                <a:solidFill>
                  <a:schemeClr val="bg1"/>
                </a:solidFill>
              </a:defRPr>
            </a:lvl2pPr>
            <a:lvl3pPr>
              <a:buFontTx/>
              <a:buNone/>
              <a:defRPr sz="2400">
                <a:solidFill>
                  <a:schemeClr val="bg1"/>
                </a:solidFill>
              </a:defRPr>
            </a:lvl3pPr>
            <a:lvl4pPr>
              <a:buFontTx/>
              <a:buNone/>
              <a:defRPr sz="2400">
                <a:solidFill>
                  <a:schemeClr val="bg1"/>
                </a:solidFill>
              </a:defRPr>
            </a:lvl4pPr>
            <a:lvl5pPr>
              <a:buFontTx/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5"/>
          </p:nvPr>
        </p:nvSpPr>
        <p:spPr bwMode="black">
          <a:xfrm>
            <a:off x="298450" y="4457212"/>
            <a:ext cx="4740275" cy="3693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400" b="0" cap="none" baseline="0">
                <a:solidFill>
                  <a:schemeClr val="bg1"/>
                </a:solidFill>
              </a:defRPr>
            </a:lvl1pPr>
            <a:lvl2pPr>
              <a:buFontTx/>
              <a:buNone/>
              <a:defRPr sz="2800">
                <a:solidFill>
                  <a:schemeClr val="bg1"/>
                </a:solidFill>
              </a:defRPr>
            </a:lvl2pPr>
            <a:lvl3pPr>
              <a:buFontTx/>
              <a:buNone/>
              <a:defRPr sz="2400">
                <a:solidFill>
                  <a:schemeClr val="bg1"/>
                </a:solidFill>
              </a:defRPr>
            </a:lvl3pPr>
            <a:lvl4pPr>
              <a:buFontTx/>
              <a:buNone/>
              <a:defRPr sz="2400">
                <a:solidFill>
                  <a:schemeClr val="bg1"/>
                </a:solidFill>
              </a:defRPr>
            </a:lvl4pPr>
            <a:lvl5pPr>
              <a:buFontTx/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or Alternate Titl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ltGray">
          <a:xfrm>
            <a:off x="179388" y="1390650"/>
            <a:ext cx="8782050" cy="546735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7" name="Picture 10" descr="Amdocs_logo_white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black">
          <a:xfrm>
            <a:off x="7696800" y="6451200"/>
            <a:ext cx="116205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/>
        </p:nvSpPr>
        <p:spPr bwMode="ltGray">
          <a:xfrm>
            <a:off x="179388" y="179388"/>
            <a:ext cx="8782050" cy="116522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3" name="Title Placeholder 1"/>
          <p:cNvSpPr txBox="1">
            <a:spLocks/>
          </p:cNvSpPr>
          <p:nvPr/>
        </p:nvSpPr>
        <p:spPr bwMode="black">
          <a:xfrm>
            <a:off x="293688" y="266700"/>
            <a:ext cx="8507412" cy="13811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900" dirty="0">
                <a:solidFill>
                  <a:srgbClr val="FFF200"/>
                </a:solidFill>
                <a:latin typeface="Arial" pitchFamily="34" charset="0"/>
                <a:ea typeface="+mj-ea"/>
                <a:cs typeface="Arial" pitchFamily="34" charset="0"/>
              </a:rPr>
              <a:t>AMDOCS &gt; CUSTOMER EXPERIENCE SYSTEMS INNOVATION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1225" y="6516688"/>
            <a:ext cx="5905143" cy="230832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l" defTabSz="914363" fontAlgn="auto">
              <a:spcBef>
                <a:spcPts val="0"/>
              </a:spcBef>
              <a:spcAft>
                <a:spcPts val="0"/>
              </a:spcAft>
              <a:tabLst>
                <a:tab pos="2577600" algn="l"/>
              </a:tabLst>
              <a:defRPr/>
            </a:pPr>
            <a:r>
              <a:rPr lang="en-US" sz="90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Information Security Level 1 – Confidential	© 2010 – Proprietary and Confidential Information of Amdocs</a:t>
            </a:r>
            <a:endParaRPr lang="en-US" sz="9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8800" y="6513513"/>
            <a:ext cx="5969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F3F47051-1876-4AFF-A3F0-E725C3F5961B}" type="slidenum">
              <a:rPr lang="en-US" sz="9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84163" y="1701800"/>
            <a:ext cx="4754880" cy="997196"/>
          </a:xfrm>
        </p:spPr>
        <p:txBody>
          <a:bodyPr>
            <a:spAutoFit/>
          </a:bodyPr>
          <a:lstStyle>
            <a:lvl1pPr>
              <a:defRPr sz="3600" b="1">
                <a:solidFill>
                  <a:schemeClr val="accent6"/>
                </a:solidFill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98450" y="5866626"/>
            <a:ext cx="4740275" cy="276999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z="18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14"/>
          </p:nvPr>
        </p:nvSpPr>
        <p:spPr>
          <a:xfrm>
            <a:off x="298450" y="4070350"/>
            <a:ext cx="4740275" cy="3693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400" cap="none" baseline="0">
                <a:solidFill>
                  <a:schemeClr val="bg1"/>
                </a:solidFill>
              </a:defRPr>
            </a:lvl1pPr>
            <a:lvl2pPr>
              <a:buFontTx/>
              <a:buNone/>
              <a:defRPr sz="2800">
                <a:solidFill>
                  <a:schemeClr val="bg1"/>
                </a:solidFill>
              </a:defRPr>
            </a:lvl2pPr>
            <a:lvl3pPr>
              <a:buFontTx/>
              <a:buNone/>
              <a:defRPr sz="2400">
                <a:solidFill>
                  <a:schemeClr val="bg1"/>
                </a:solidFill>
              </a:defRPr>
            </a:lvl3pPr>
            <a:lvl4pPr>
              <a:buFontTx/>
              <a:buNone/>
              <a:defRPr sz="2400">
                <a:solidFill>
                  <a:schemeClr val="bg1"/>
                </a:solidFill>
              </a:defRPr>
            </a:lvl4pPr>
            <a:lvl5pPr>
              <a:buFontTx/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20"/>
          <p:cNvSpPr>
            <a:spLocks noGrp="1"/>
          </p:cNvSpPr>
          <p:nvPr>
            <p:ph type="body" sz="quarter" idx="15"/>
          </p:nvPr>
        </p:nvSpPr>
        <p:spPr>
          <a:xfrm>
            <a:off x="298450" y="4457212"/>
            <a:ext cx="4740275" cy="3693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400" b="0" cap="none" baseline="0">
                <a:solidFill>
                  <a:schemeClr val="bg1"/>
                </a:solidFill>
              </a:defRPr>
            </a:lvl1pPr>
            <a:lvl2pPr>
              <a:buFontTx/>
              <a:buNone/>
              <a:defRPr sz="2800">
                <a:solidFill>
                  <a:schemeClr val="bg1"/>
                </a:solidFill>
              </a:defRPr>
            </a:lvl2pPr>
            <a:lvl3pPr>
              <a:buFontTx/>
              <a:buNone/>
              <a:defRPr sz="2400">
                <a:solidFill>
                  <a:schemeClr val="bg1"/>
                </a:solidFill>
              </a:defRPr>
            </a:lvl3pPr>
            <a:lvl4pPr>
              <a:buFontTx/>
              <a:buNone/>
              <a:defRPr sz="2400">
                <a:solidFill>
                  <a:schemeClr val="bg1"/>
                </a:solidFill>
              </a:defRPr>
            </a:lvl4pPr>
            <a:lvl5pPr>
              <a:buFontTx/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or Alternate Titl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background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 bwMode="ltGray">
          <a:xfrm>
            <a:off x="179388" y="1390650"/>
            <a:ext cx="8782050" cy="546735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7" name="Picture 10" descr="Amdocs_logo_white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black">
          <a:xfrm>
            <a:off x="7696800" y="6451200"/>
            <a:ext cx="116205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/>
        </p:nvSpPr>
        <p:spPr bwMode="ltGray">
          <a:xfrm>
            <a:off x="179388" y="179388"/>
            <a:ext cx="8782050" cy="116522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3" name="Title Placeholder 1"/>
          <p:cNvSpPr txBox="1">
            <a:spLocks/>
          </p:cNvSpPr>
          <p:nvPr/>
        </p:nvSpPr>
        <p:spPr bwMode="black">
          <a:xfrm>
            <a:off x="293688" y="266700"/>
            <a:ext cx="8507412" cy="13811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900" dirty="0">
                <a:solidFill>
                  <a:srgbClr val="FFF200"/>
                </a:solidFill>
                <a:latin typeface="Arial" pitchFamily="34" charset="0"/>
                <a:ea typeface="+mj-ea"/>
                <a:cs typeface="Arial" pitchFamily="34" charset="0"/>
              </a:rPr>
              <a:t>AMDOCS &gt; CUSTOMER EXPERIENCE SYSTEMS INNOVATION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1225" y="6516688"/>
            <a:ext cx="5905143" cy="230832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l" defTabSz="914363" fontAlgn="auto">
              <a:spcBef>
                <a:spcPts val="0"/>
              </a:spcBef>
              <a:spcAft>
                <a:spcPts val="0"/>
              </a:spcAft>
              <a:tabLst>
                <a:tab pos="2577600" algn="l"/>
              </a:tabLst>
              <a:defRPr/>
            </a:pPr>
            <a:r>
              <a:rPr lang="en-US" sz="90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Information Security Level 1 – Confidential	© 2010 – Proprietary and Confidential Information of Amdocs</a:t>
            </a:r>
            <a:endParaRPr lang="en-US" sz="9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8800" y="6513513"/>
            <a:ext cx="5969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C7143384-F3FF-4A83-A9D2-C17D7574B0A0}" type="slidenum">
              <a:rPr lang="en-US" sz="9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98450" y="5866626"/>
            <a:ext cx="4740275" cy="276999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z="18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20"/>
          <p:cNvSpPr>
            <a:spLocks noGrp="1"/>
          </p:cNvSpPr>
          <p:nvPr>
            <p:ph type="body" sz="quarter" idx="14"/>
          </p:nvPr>
        </p:nvSpPr>
        <p:spPr>
          <a:xfrm>
            <a:off x="298450" y="4070350"/>
            <a:ext cx="4740275" cy="3693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400" cap="none" baseline="0">
                <a:solidFill>
                  <a:schemeClr val="bg1"/>
                </a:solidFill>
              </a:defRPr>
            </a:lvl1pPr>
            <a:lvl2pPr>
              <a:buFontTx/>
              <a:buNone/>
              <a:defRPr sz="2800">
                <a:solidFill>
                  <a:schemeClr val="bg1"/>
                </a:solidFill>
              </a:defRPr>
            </a:lvl2pPr>
            <a:lvl3pPr>
              <a:buFontTx/>
              <a:buNone/>
              <a:defRPr sz="2400">
                <a:solidFill>
                  <a:schemeClr val="bg1"/>
                </a:solidFill>
              </a:defRPr>
            </a:lvl3pPr>
            <a:lvl4pPr>
              <a:buFontTx/>
              <a:buNone/>
              <a:defRPr sz="2400">
                <a:solidFill>
                  <a:schemeClr val="bg1"/>
                </a:solidFill>
              </a:defRPr>
            </a:lvl4pPr>
            <a:lvl5pPr>
              <a:buFontTx/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15"/>
          </p:nvPr>
        </p:nvSpPr>
        <p:spPr>
          <a:xfrm>
            <a:off x="298450" y="4457212"/>
            <a:ext cx="4740275" cy="3693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400" b="0" cap="none" baseline="0">
                <a:solidFill>
                  <a:schemeClr val="bg1"/>
                </a:solidFill>
              </a:defRPr>
            </a:lvl1pPr>
            <a:lvl2pPr>
              <a:buFontTx/>
              <a:buNone/>
              <a:defRPr sz="2800">
                <a:solidFill>
                  <a:schemeClr val="bg1"/>
                </a:solidFill>
              </a:defRPr>
            </a:lvl2pPr>
            <a:lvl3pPr>
              <a:buFontTx/>
              <a:buNone/>
              <a:defRPr sz="2400">
                <a:solidFill>
                  <a:schemeClr val="bg1"/>
                </a:solidFill>
              </a:defRPr>
            </a:lvl3pPr>
            <a:lvl4pPr>
              <a:buFontTx/>
              <a:buNone/>
              <a:defRPr sz="2400">
                <a:solidFill>
                  <a:schemeClr val="bg1"/>
                </a:solidFill>
              </a:defRPr>
            </a:lvl4pPr>
            <a:lvl5pPr>
              <a:buFontTx/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84163" y="1701800"/>
            <a:ext cx="4754880" cy="997196"/>
          </a:xfrm>
        </p:spPr>
        <p:txBody>
          <a:bodyPr>
            <a:spAutoFit/>
          </a:bodyPr>
          <a:lstStyle>
            <a:lvl1pPr>
              <a:defRPr sz="3600" b="1">
                <a:solidFill>
                  <a:schemeClr val="accent6"/>
                </a:solidFill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ltGray">
          <a:xfrm>
            <a:off x="179388" y="179388"/>
            <a:ext cx="8782050" cy="116522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Title Placeholder 1"/>
          <p:cNvSpPr txBox="1">
            <a:spLocks/>
          </p:cNvSpPr>
          <p:nvPr/>
        </p:nvSpPr>
        <p:spPr bwMode="black">
          <a:xfrm>
            <a:off x="293688" y="266700"/>
            <a:ext cx="8507412" cy="13811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900" dirty="0">
                <a:solidFill>
                  <a:srgbClr val="FFF200"/>
                </a:solidFill>
                <a:latin typeface="Arial" pitchFamily="34" charset="0"/>
                <a:ea typeface="+mj-ea"/>
                <a:cs typeface="Arial" pitchFamily="34" charset="0"/>
              </a:rPr>
              <a:t>AMDOCS &gt; CUSTOMER EXPERIENCE SYSTEMS INNOVATION</a:t>
            </a:r>
          </a:p>
        </p:txBody>
      </p:sp>
      <p:sp>
        <p:nvSpPr>
          <p:cNvPr id="6" name="Rectangle 5"/>
          <p:cNvSpPr/>
          <p:nvPr/>
        </p:nvSpPr>
        <p:spPr bwMode="ltGray">
          <a:xfrm>
            <a:off x="179388" y="1390650"/>
            <a:ext cx="8782050" cy="5467350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7" name="Picture 12" descr="Amdocs_logo_white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96800" y="6451200"/>
            <a:ext cx="116205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911225" y="6516688"/>
            <a:ext cx="5905143" cy="230832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l" defTabSz="914363" fontAlgn="auto">
              <a:spcBef>
                <a:spcPts val="0"/>
              </a:spcBef>
              <a:spcAft>
                <a:spcPts val="0"/>
              </a:spcAft>
              <a:tabLst>
                <a:tab pos="2577600" algn="l"/>
              </a:tabLst>
              <a:defRPr/>
            </a:pPr>
            <a:r>
              <a:rPr lang="en-US" sz="90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Information Security Level 1 – Confidential	© 2010 – Proprietary and Confidential Information of Amdocs</a:t>
            </a:r>
            <a:endParaRPr lang="en-US" sz="9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7963" y="6513513"/>
            <a:ext cx="5969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A1AA4859-9646-4445-A759-07EA2DD58ACB}" type="slidenum">
              <a:rPr lang="en-US" sz="9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/>
          </p:nvPr>
        </p:nvSpPr>
        <p:spPr>
          <a:xfrm>
            <a:off x="302400" y="1598400"/>
            <a:ext cx="8547100" cy="4525962"/>
          </a:xfr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defRPr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hasis -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ltGray">
          <a:xfrm>
            <a:off x="179388" y="179388"/>
            <a:ext cx="8782050" cy="116522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Title Placeholder 1"/>
          <p:cNvSpPr txBox="1">
            <a:spLocks/>
          </p:cNvSpPr>
          <p:nvPr/>
        </p:nvSpPr>
        <p:spPr bwMode="black">
          <a:xfrm>
            <a:off x="293688" y="266700"/>
            <a:ext cx="8507412" cy="13811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900" dirty="0">
                <a:solidFill>
                  <a:srgbClr val="FFF200"/>
                </a:solidFill>
                <a:latin typeface="Arial" pitchFamily="34" charset="0"/>
                <a:ea typeface="+mj-ea"/>
                <a:cs typeface="Arial" pitchFamily="34" charset="0"/>
              </a:rPr>
              <a:t>AMDOCS &gt; CUSTOMER EXPERIENCE SYSTEMS INNOVATION</a:t>
            </a:r>
          </a:p>
        </p:txBody>
      </p:sp>
      <p:sp>
        <p:nvSpPr>
          <p:cNvPr id="6" name="Rectangle 5"/>
          <p:cNvSpPr/>
          <p:nvPr/>
        </p:nvSpPr>
        <p:spPr bwMode="ltGray">
          <a:xfrm>
            <a:off x="179388" y="1390650"/>
            <a:ext cx="8782050" cy="5467350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7" name="Picture 12" descr="Amdocs_logo_white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96800" y="6451200"/>
            <a:ext cx="116205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911225" y="6516688"/>
            <a:ext cx="5905143" cy="230832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l" defTabSz="914363" fontAlgn="auto">
              <a:spcBef>
                <a:spcPts val="0"/>
              </a:spcBef>
              <a:spcAft>
                <a:spcPts val="0"/>
              </a:spcAft>
              <a:tabLst>
                <a:tab pos="2577600" algn="l"/>
              </a:tabLst>
              <a:defRPr/>
            </a:pPr>
            <a:r>
              <a:rPr lang="en-US" sz="90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Information Security Level 1 – Confidential	© 2010 – Proprietary and Confidential Information of Amdocs</a:t>
            </a:r>
            <a:endParaRPr lang="en-US" sz="9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7963" y="6513513"/>
            <a:ext cx="5969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7E1BDBAE-047E-486E-9F63-D8085698302F}" type="slidenum">
              <a:rPr lang="en-US" sz="9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black"/>
        <p:txBody>
          <a:bodyPr/>
          <a:lstStyle>
            <a:lvl1pPr marL="457200" indent="-457200">
              <a:lnSpc>
                <a:spcPct val="100000"/>
              </a:lnSpc>
              <a:spcBef>
                <a:spcPts val="1200"/>
              </a:spcBef>
              <a:defRPr sz="3800" cap="none" baseline="0">
                <a:solidFill>
                  <a:schemeClr val="accent6"/>
                </a:solidFill>
              </a:defRPr>
            </a:lvl1pPr>
            <a:lvl2pPr>
              <a:spcBef>
                <a:spcPts val="900"/>
              </a:spcBef>
              <a:defRPr sz="3600">
                <a:solidFill>
                  <a:schemeClr val="accent1"/>
                </a:solidFill>
              </a:defRPr>
            </a:lvl2pPr>
            <a:lvl3pPr>
              <a:spcBef>
                <a:spcPts val="800"/>
              </a:spcBef>
              <a:defRPr sz="3200">
                <a:solidFill>
                  <a:schemeClr val="accent1"/>
                </a:solidFill>
              </a:defRPr>
            </a:lvl3pPr>
            <a:lvl4pPr>
              <a:spcBef>
                <a:spcPts val="800"/>
              </a:spcBef>
              <a:defRPr sz="3200">
                <a:solidFill>
                  <a:schemeClr val="accent1"/>
                </a:solidFill>
              </a:defRPr>
            </a:lvl4pPr>
            <a:lvl5pPr>
              <a:spcBef>
                <a:spcPts val="800"/>
              </a:spcBef>
              <a:defRPr sz="3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/>
          <p:cNvSpPr txBox="1">
            <a:spLocks/>
          </p:cNvSpPr>
          <p:nvPr/>
        </p:nvSpPr>
        <p:spPr bwMode="black">
          <a:xfrm>
            <a:off x="293688" y="266700"/>
            <a:ext cx="8507412" cy="13811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+mj-ea"/>
                <a:cs typeface="Arial" pitchFamily="34" charset="0"/>
              </a:rPr>
              <a:t>AMDOCS &gt; CUSTOMER EXPERIENCE SYSTEMS INNOVATION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 bwMode="black">
          <a:xfrm>
            <a:off x="284163" y="3966672"/>
            <a:ext cx="8691561" cy="498598"/>
          </a:xfrm>
          <a:effectLst/>
        </p:spPr>
        <p:txBody>
          <a:bodyPr wrap="square" anchor="t" anchorCtr="0">
            <a:spAutoFit/>
          </a:bodyPr>
          <a:lstStyle>
            <a:lvl1pPr>
              <a:defRPr sz="3600" b="1">
                <a:solidFill>
                  <a:srgbClr val="404040"/>
                </a:solidFill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 bwMode="black">
          <a:xfrm>
            <a:off x="298450" y="5866626"/>
            <a:ext cx="4740275" cy="276999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z="1800" b="0" cap="none" baseline="0">
                <a:solidFill>
                  <a:srgbClr val="404040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4"/>
          </p:nvPr>
        </p:nvSpPr>
        <p:spPr bwMode="black">
          <a:xfrm>
            <a:off x="298450" y="5254376"/>
            <a:ext cx="4740275" cy="3693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400" cap="none" baseline="0">
                <a:solidFill>
                  <a:srgbClr val="404040"/>
                </a:solidFill>
              </a:defRPr>
            </a:lvl1pPr>
            <a:lvl2pPr>
              <a:buFontTx/>
              <a:buNone/>
              <a:defRPr sz="2800">
                <a:solidFill>
                  <a:schemeClr val="bg1"/>
                </a:solidFill>
              </a:defRPr>
            </a:lvl2pPr>
            <a:lvl3pPr>
              <a:buFontTx/>
              <a:buNone/>
              <a:defRPr sz="2400">
                <a:solidFill>
                  <a:schemeClr val="bg1"/>
                </a:solidFill>
              </a:defRPr>
            </a:lvl3pPr>
            <a:lvl4pPr>
              <a:buFontTx/>
              <a:buNone/>
              <a:defRPr sz="2400">
                <a:solidFill>
                  <a:schemeClr val="bg1"/>
                </a:solidFill>
              </a:defRPr>
            </a:lvl4pPr>
            <a:lvl5pPr>
              <a:buFontTx/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4" name="Picture 13" descr="Amdocs_logo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gray">
          <a:xfrm>
            <a:off x="7696200" y="6451600"/>
            <a:ext cx="1158875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 userDrawn="1"/>
        </p:nvSpPr>
        <p:spPr bwMode="gray">
          <a:xfrm>
            <a:off x="911225" y="6516688"/>
            <a:ext cx="5905143" cy="230832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l" defTabSz="914363" fontAlgn="auto">
              <a:spcBef>
                <a:spcPts val="0"/>
              </a:spcBef>
              <a:spcAft>
                <a:spcPts val="0"/>
              </a:spcAft>
              <a:tabLst>
                <a:tab pos="2577600" algn="l"/>
              </a:tabLst>
              <a:defRPr/>
            </a:pPr>
            <a:r>
              <a:rPr lang="en-US" sz="900" smtClean="0">
                <a:solidFill>
                  <a:srgbClr val="898989"/>
                </a:solidFill>
                <a:latin typeface="Arial" pitchFamily="34" charset="0"/>
                <a:cs typeface="Arial" pitchFamily="34" charset="0"/>
              </a:rPr>
              <a:t>Information Security Level 1 – Confidential	© 2010 – Proprietary and Confidential Information of Amdocs</a:t>
            </a:r>
            <a:endParaRPr lang="en-US" sz="900" dirty="0">
              <a:solidFill>
                <a:srgbClr val="89898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 userDrawn="1"/>
        </p:nvSpPr>
        <p:spPr bwMode="gray">
          <a:xfrm>
            <a:off x="207963" y="6513513"/>
            <a:ext cx="5969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2052D708-4193-491A-86DB-5D98D5C2AC06}" type="slidenum">
              <a:rPr lang="en-US" sz="900">
                <a:solidFill>
                  <a:srgbClr val="898989"/>
                </a:solidFill>
                <a:latin typeface="Arial" pitchFamily="34" charset="0"/>
                <a:cs typeface="Arial" pitchFamily="34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rgbClr val="898989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" name="Group 32"/>
          <p:cNvGrpSpPr/>
          <p:nvPr userDrawn="1"/>
        </p:nvGrpSpPr>
        <p:grpSpPr bwMode="gray">
          <a:xfrm>
            <a:off x="180975" y="684213"/>
            <a:ext cx="8785225" cy="2975505"/>
            <a:chOff x="180975" y="684213"/>
            <a:chExt cx="8785225" cy="2975505"/>
          </a:xfrm>
        </p:grpSpPr>
        <p:grpSp>
          <p:nvGrpSpPr>
            <p:cNvPr id="3" name="Group 27"/>
            <p:cNvGrpSpPr/>
            <p:nvPr userDrawn="1"/>
          </p:nvGrpSpPr>
          <p:grpSpPr bwMode="gray">
            <a:xfrm>
              <a:off x="180975" y="684213"/>
              <a:ext cx="8785225" cy="2975505"/>
              <a:chOff x="180975" y="684213"/>
              <a:chExt cx="8785225" cy="2975505"/>
            </a:xfrm>
          </p:grpSpPr>
          <p:pic>
            <p:nvPicPr>
              <p:cNvPr id="19" name="Picture 18" descr="title_photo.jpg"/>
              <p:cNvPicPr>
                <a:picLocks noChangeAspect="1"/>
              </p:cNvPicPr>
              <p:nvPr userDrawn="1"/>
            </p:nvPicPr>
            <p:blipFill>
              <a:blip r:embed="rId3" cstate="print"/>
              <a:stretch>
                <a:fillRect/>
              </a:stretch>
            </p:blipFill>
            <p:spPr bwMode="gray">
              <a:xfrm>
                <a:off x="180975" y="684213"/>
                <a:ext cx="5327650" cy="2975505"/>
              </a:xfrm>
              <a:prstGeom prst="rect">
                <a:avLst/>
              </a:prstGeom>
            </p:spPr>
          </p:pic>
          <p:sp>
            <p:nvSpPr>
              <p:cNvPr id="23" name="Rectangle 22"/>
              <p:cNvSpPr/>
              <p:nvPr userDrawn="1"/>
            </p:nvSpPr>
            <p:spPr bwMode="gray">
              <a:xfrm>
                <a:off x="5579135" y="684213"/>
                <a:ext cx="1655624" cy="2971800"/>
              </a:xfrm>
              <a:prstGeom prst="rect">
                <a:avLst/>
              </a:prstGeom>
              <a:solidFill>
                <a:srgbClr val="4C4C4C"/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en-US" sz="2000" smtClean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5" name="Rectangle 24"/>
              <p:cNvSpPr/>
              <p:nvPr userDrawn="1"/>
            </p:nvSpPr>
            <p:spPr bwMode="gray">
              <a:xfrm>
                <a:off x="7310576" y="684213"/>
                <a:ext cx="1655624" cy="2971800"/>
              </a:xfrm>
              <a:prstGeom prst="rect">
                <a:avLst/>
              </a:prstGeom>
              <a:solidFill>
                <a:srgbClr val="4C4C4C"/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en-US" sz="2000" smtClean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pic>
          <p:nvPicPr>
            <p:cNvPr id="31" name="Picture 30" descr="do_more.gif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 bwMode="gray">
            <a:xfrm>
              <a:off x="5638800" y="760413"/>
              <a:ext cx="1333500" cy="899908"/>
            </a:xfrm>
            <a:prstGeom prst="rect">
              <a:avLst/>
            </a:prstGeom>
          </p:spPr>
        </p:pic>
        <p:pic>
          <p:nvPicPr>
            <p:cNvPr id="32" name="Picture 31" descr="bullets.gif"/>
            <p:cNvPicPr>
              <a:picLocks noChangeAspect="1"/>
            </p:cNvPicPr>
            <p:nvPr userDrawn="1"/>
          </p:nvPicPr>
          <p:blipFill>
            <a:blip r:embed="rId5" cstate="print"/>
            <a:stretch>
              <a:fillRect/>
            </a:stretch>
          </p:blipFill>
          <p:spPr bwMode="gray">
            <a:xfrm>
              <a:off x="7372989" y="765340"/>
              <a:ext cx="1376363" cy="611279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 bwMode="ltGray">
          <a:xfrm>
            <a:off x="179388" y="179388"/>
            <a:ext cx="8782050" cy="116522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Title Placeholder 1"/>
          <p:cNvSpPr txBox="1">
            <a:spLocks/>
          </p:cNvSpPr>
          <p:nvPr/>
        </p:nvSpPr>
        <p:spPr bwMode="black">
          <a:xfrm>
            <a:off x="293688" y="266700"/>
            <a:ext cx="8507412" cy="13811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900" dirty="0">
                <a:solidFill>
                  <a:srgbClr val="FFF200"/>
                </a:solidFill>
                <a:latin typeface="Arial" pitchFamily="34" charset="0"/>
                <a:ea typeface="+mj-ea"/>
                <a:cs typeface="Arial" pitchFamily="34" charset="0"/>
              </a:rPr>
              <a:t>AMDOCS &gt; CUSTOMER EXPERIENCE SYSTEMS INNOVATION</a:t>
            </a:r>
          </a:p>
        </p:txBody>
      </p:sp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black">
          <a:xfrm>
            <a:off x="303238" y="466725"/>
            <a:ext cx="8540750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  <p:sp>
        <p:nvSpPr>
          <p:cNvPr id="1029" name="Text Placeholder 9"/>
          <p:cNvSpPr>
            <a:spLocks noGrp="1"/>
          </p:cNvSpPr>
          <p:nvPr>
            <p:ph type="body" idx="1"/>
          </p:nvPr>
        </p:nvSpPr>
        <p:spPr bwMode="auto">
          <a:xfrm>
            <a:off x="302400" y="1598400"/>
            <a:ext cx="854075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1030" name="Picture 13" descr="Amdocs_logo.png"/>
          <p:cNvPicPr>
            <a:picLocks noChangeAspect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7696200" y="6451600"/>
            <a:ext cx="1158875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TextBox 18"/>
          <p:cNvSpPr txBox="1"/>
          <p:nvPr/>
        </p:nvSpPr>
        <p:spPr>
          <a:xfrm>
            <a:off x="911225" y="6516688"/>
            <a:ext cx="5905143" cy="230832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l" defTabSz="914363" fontAlgn="auto">
              <a:spcBef>
                <a:spcPts val="0"/>
              </a:spcBef>
              <a:spcAft>
                <a:spcPts val="0"/>
              </a:spcAft>
              <a:tabLst>
                <a:tab pos="2577600" algn="l"/>
              </a:tabLst>
              <a:defRPr/>
            </a:pPr>
            <a:r>
              <a:rPr lang="en-US" sz="900" smtClean="0">
                <a:solidFill>
                  <a:srgbClr val="898989"/>
                </a:solidFill>
                <a:latin typeface="Arial" pitchFamily="34" charset="0"/>
                <a:cs typeface="Arial" pitchFamily="34" charset="0"/>
              </a:rPr>
              <a:t>Information Security Level 1 – Confidential	© 2010 – Proprietary and Confidential Information of Amdocs</a:t>
            </a:r>
            <a:endParaRPr lang="en-US" sz="900" dirty="0">
              <a:solidFill>
                <a:srgbClr val="89898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07963" y="6513513"/>
            <a:ext cx="5969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2052D708-4193-491A-86DB-5D98D5C2AC06}" type="slidenum">
              <a:rPr lang="en-US" sz="900">
                <a:solidFill>
                  <a:srgbClr val="898989"/>
                </a:solidFill>
                <a:latin typeface="Arial" pitchFamily="34" charset="0"/>
                <a:cs typeface="Arial" pitchFamily="34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rgbClr val="898989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4" r:id="rId4"/>
    <p:sldLayoutId id="2147483815" r:id="rId5"/>
    <p:sldLayoutId id="2147483823" r:id="rId6"/>
    <p:sldLayoutId id="2147483810" r:id="rId7"/>
    <p:sldLayoutId id="2147483811" r:id="rId8"/>
    <p:sldLayoutId id="2147483812" r:id="rId9"/>
    <p:sldLayoutId id="2147483817" r:id="rId10"/>
    <p:sldLayoutId id="2147483825" r:id="rId11"/>
    <p:sldLayoutId id="2147483813" r:id="rId12"/>
    <p:sldLayoutId id="2147483818" r:id="rId13"/>
    <p:sldLayoutId id="2147483819" r:id="rId14"/>
    <p:sldLayoutId id="2147483820" r:id="rId15"/>
    <p:sldLayoutId id="2147483821" r:id="rId16"/>
    <p:sldLayoutId id="2147483826" r:id="rId17"/>
  </p:sldLayoutIdLst>
  <p:transition/>
  <p:hf sldNum="0"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kern="1200">
          <a:solidFill>
            <a:schemeClr val="bg1"/>
          </a:solidFill>
          <a:latin typeface="+mj-lt"/>
          <a:ea typeface="+mj-ea"/>
          <a:cs typeface="Arial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cs typeface="Arial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cs typeface="Arial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cs typeface="Arial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cs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cs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cs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cs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404813" indent="-404813" algn="l" rtl="0" eaLnBrk="1" fontAlgn="base" hangingPunct="1">
        <a:spcBef>
          <a:spcPts val="1200"/>
        </a:spcBef>
        <a:spcAft>
          <a:spcPct val="0"/>
        </a:spcAft>
        <a:buFont typeface="Arial" charset="0"/>
        <a:buChar char="&gt;"/>
        <a:defRPr lang="en-US" sz="2800" kern="1200" dirty="0">
          <a:solidFill>
            <a:srgbClr val="404040"/>
          </a:solidFill>
          <a:latin typeface="+mn-lt"/>
          <a:ea typeface="+mn-ea"/>
          <a:cs typeface="Arial" pitchFamily="34" charset="0"/>
        </a:defRPr>
      </a:lvl1pPr>
      <a:lvl2pPr marL="914400" indent="-395288" algn="l" rtl="0" eaLnBrk="1" fontAlgn="base" hangingPunct="1">
        <a:spcBef>
          <a:spcPts val="500"/>
        </a:spcBef>
        <a:spcAft>
          <a:spcPct val="0"/>
        </a:spcAft>
        <a:buFont typeface="Arial" charset="0"/>
        <a:buChar char="&gt;"/>
        <a:defRPr lang="en-US" sz="2400" kern="1200" dirty="0">
          <a:solidFill>
            <a:srgbClr val="404040"/>
          </a:solidFill>
          <a:latin typeface="+mn-lt"/>
          <a:ea typeface="+mn-ea"/>
          <a:cs typeface="Arial" pitchFamily="34" charset="0"/>
        </a:defRPr>
      </a:lvl2pPr>
      <a:lvl3pPr marL="1371600" indent="-342900" algn="l" rtl="0" eaLnBrk="1" fontAlgn="base" hangingPunct="1">
        <a:spcBef>
          <a:spcPts val="500"/>
        </a:spcBef>
        <a:spcAft>
          <a:spcPct val="0"/>
        </a:spcAft>
        <a:buFont typeface="Arial" charset="0"/>
        <a:buChar char="&gt;"/>
        <a:defRPr lang="en-US" sz="2000" kern="1200" dirty="0">
          <a:solidFill>
            <a:srgbClr val="404040"/>
          </a:solidFill>
          <a:latin typeface="+mn-lt"/>
          <a:ea typeface="+mn-ea"/>
          <a:cs typeface="Arial" pitchFamily="34" charset="0"/>
        </a:defRPr>
      </a:lvl3pPr>
      <a:lvl4pPr marL="1828800" indent="-342900" algn="l" rtl="0" eaLnBrk="1" fontAlgn="base" hangingPunct="1">
        <a:spcBef>
          <a:spcPts val="500"/>
        </a:spcBef>
        <a:spcAft>
          <a:spcPct val="0"/>
        </a:spcAft>
        <a:buFont typeface="Arial" charset="0"/>
        <a:buChar char="&gt;"/>
        <a:defRPr lang="en-US" sz="2000" kern="1200" dirty="0">
          <a:solidFill>
            <a:srgbClr val="404040"/>
          </a:solidFill>
          <a:latin typeface="+mn-lt"/>
          <a:ea typeface="+mn-ea"/>
          <a:cs typeface="Arial" pitchFamily="34" charset="0"/>
        </a:defRPr>
      </a:lvl4pPr>
      <a:lvl5pPr marL="2286000" indent="-342900" algn="l" rtl="0" eaLnBrk="1" fontAlgn="base" hangingPunct="1">
        <a:spcBef>
          <a:spcPts val="500"/>
        </a:spcBef>
        <a:spcAft>
          <a:spcPct val="0"/>
        </a:spcAft>
        <a:buFont typeface="Arial" charset="0"/>
        <a:buChar char="&gt;"/>
        <a:defRPr lang="en-US" sz="2000" kern="1200" dirty="0">
          <a:solidFill>
            <a:srgbClr val="404040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CM Dashboard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January, 2011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298450" y="5254376"/>
            <a:ext cx="4740275" cy="215444"/>
          </a:xfrm>
        </p:spPr>
        <p:txBody>
          <a:bodyPr/>
          <a:lstStyle/>
          <a:p>
            <a:r>
              <a:rPr lang="en-US" sz="1400" dirty="0" smtClean="0"/>
              <a:t>Infra - Capacity Planning and PSO-Innovation Teams</a:t>
            </a:r>
            <a:endParaRPr lang="en-US" sz="1400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21261C"/>
              </a:clrFrom>
              <a:clrTo>
                <a:srgbClr val="21261C">
                  <a:alpha val="0"/>
                </a:srgbClr>
              </a:clrTo>
            </a:clrChange>
          </a:blip>
          <a:srcRect b="23215"/>
          <a:stretch>
            <a:fillRect/>
          </a:stretch>
        </p:blipFill>
        <p:spPr bwMode="auto">
          <a:xfrm>
            <a:off x="245658" y="832513"/>
            <a:ext cx="5320761" cy="2815209"/>
          </a:xfrm>
          <a:prstGeom prst="rect">
            <a:avLst/>
          </a:prstGeom>
          <a:ln>
            <a:noFill/>
          </a:ln>
          <a:effectLst>
            <a:softEdge rad="635000"/>
          </a:effec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 4 test configuration</a:t>
            </a:r>
          </a:p>
          <a:p>
            <a:pPr lvl="1"/>
            <a:r>
              <a:rPr lang="en-US" dirty="0" smtClean="0"/>
              <a:t>70% load during 1hour</a:t>
            </a:r>
          </a:p>
          <a:p>
            <a:pPr lvl="1"/>
            <a:r>
              <a:rPr lang="en-US" dirty="0" smtClean="0"/>
              <a:t>70% load during  17 hours (one missed hour)</a:t>
            </a:r>
          </a:p>
          <a:p>
            <a:pPr lvl="1"/>
            <a:r>
              <a:rPr lang="en-US" dirty="0" smtClean="0"/>
              <a:t>100% load during 4 hours</a:t>
            </a:r>
          </a:p>
          <a:p>
            <a:pPr lvl="1"/>
            <a:r>
              <a:rPr lang="en-US" dirty="0" smtClean="0"/>
              <a:t>120% load during  1 hour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CPU data</a:t>
            </a:r>
          </a:p>
          <a:p>
            <a:pPr lvl="1"/>
            <a:r>
              <a:rPr lang="en-US" dirty="0" smtClean="0"/>
              <a:t>CM Database average(?) every 5 minutes</a:t>
            </a:r>
          </a:p>
          <a:p>
            <a:pPr lvl="1"/>
            <a:r>
              <a:rPr lang="en-US" dirty="0" smtClean="0"/>
              <a:t>CM Application average/min/max every hour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</a:t>
            </a:r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>
          <a:xfrm>
            <a:off x="303761" y="5208998"/>
            <a:ext cx="7082244" cy="962226"/>
          </a:xfrm>
        </p:spPr>
        <p:txBody>
          <a:bodyPr/>
          <a:lstStyle/>
          <a:p>
            <a:r>
              <a:rPr lang="en-US" dirty="0" smtClean="0"/>
              <a:t>CPU utilization decreases at 120%</a:t>
            </a:r>
          </a:p>
          <a:p>
            <a:r>
              <a:rPr lang="en-US" dirty="0" smtClean="0"/>
              <a:t>Network/Disk is a bottleneck?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Average CPU</a:t>
            </a:r>
            <a:endParaRPr lang="en-US" dirty="0"/>
          </a:p>
        </p:txBody>
      </p:sp>
      <p:graphicFrame>
        <p:nvGraphicFramePr>
          <p:cNvPr id="4" name="Chart 3"/>
          <p:cNvGraphicFramePr/>
          <p:nvPr/>
        </p:nvGraphicFramePr>
        <p:xfrm>
          <a:off x="581025" y="1561672"/>
          <a:ext cx="6271838" cy="36267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 Not enough data to validate complex model</a:t>
            </a:r>
          </a:p>
          <a:p>
            <a:r>
              <a:rPr lang="en-US" dirty="0" smtClean="0"/>
              <a:t>Need to rely on assumptions and past experience</a:t>
            </a:r>
          </a:p>
          <a:p>
            <a:endParaRPr lang="en-US" dirty="0" smtClean="0"/>
          </a:p>
          <a:p>
            <a:r>
              <a:rPr lang="en-US" dirty="0" smtClean="0"/>
              <a:t>Model A:  </a:t>
            </a:r>
          </a:p>
          <a:p>
            <a:pPr lvl="1"/>
            <a:r>
              <a:rPr lang="en-US" dirty="0" smtClean="0"/>
              <a:t>Normal CPU distribution</a:t>
            </a:r>
          </a:p>
          <a:p>
            <a:pPr lvl="1"/>
            <a:r>
              <a:rPr lang="en-US" dirty="0" smtClean="0"/>
              <a:t>Linear 2-point regression from load</a:t>
            </a:r>
          </a:p>
          <a:p>
            <a:pPr lvl="1"/>
            <a:r>
              <a:rPr lang="en-US" dirty="0" smtClean="0"/>
              <a:t>Ignore 120% load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Models</a:t>
            </a:r>
            <a:endParaRPr lang="en-US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A:2-point normal/linear model</a:t>
            </a:r>
            <a:endParaRPr lang="en-US" dirty="0"/>
          </a:p>
        </p:txBody>
      </p:sp>
      <p:graphicFrame>
        <p:nvGraphicFramePr>
          <p:cNvPr id="4" name="Chart 3"/>
          <p:cNvGraphicFramePr/>
          <p:nvPr/>
        </p:nvGraphicFramePr>
        <p:xfrm>
          <a:off x="554804" y="1338691"/>
          <a:ext cx="6739848" cy="36442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2481" y="5486400"/>
            <a:ext cx="6174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Variance at 100% might be smaller as there less points (4 hours for 100% vs. 17 hours for 70%)</a:t>
            </a:r>
            <a:endParaRPr lang="en-US" sz="1800" b="0" kern="1200" dirty="0" smtClean="0">
              <a:solidFill>
                <a:schemeClr val="tx1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>
          <a:xfrm>
            <a:off x="303761" y="1598400"/>
            <a:ext cx="7082244" cy="1155074"/>
          </a:xfrm>
        </p:spPr>
        <p:txBody>
          <a:bodyPr/>
          <a:lstStyle/>
          <a:p>
            <a:r>
              <a:rPr lang="en-US" dirty="0" smtClean="0"/>
              <a:t>Log-Normal CPU utilization distribution </a:t>
            </a:r>
          </a:p>
          <a:p>
            <a:r>
              <a:rPr lang="en-US" dirty="0" smtClean="0"/>
              <a:t>Validated for RB events on past data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B:Lognormal</a:t>
            </a:r>
            <a:endParaRPr lang="en-US" dirty="0"/>
          </a:p>
        </p:txBody>
      </p:sp>
      <p:graphicFrame>
        <p:nvGraphicFramePr>
          <p:cNvPr id="4" name="Chart 3"/>
          <p:cNvGraphicFramePr/>
          <p:nvPr/>
        </p:nvGraphicFramePr>
        <p:xfrm>
          <a:off x="878440" y="2899880"/>
          <a:ext cx="6200454" cy="34700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Amdocs">
  <a:themeElements>
    <a:clrScheme name="Amdocs">
      <a:dk1>
        <a:srgbClr val="000000"/>
      </a:dk1>
      <a:lt1>
        <a:srgbClr val="FFFFFF"/>
      </a:lt1>
      <a:dk2>
        <a:srgbClr val="F8D8CB"/>
      </a:dk2>
      <a:lt2>
        <a:srgbClr val="C6D9F1"/>
      </a:lt2>
      <a:accent1>
        <a:srgbClr val="ED8000"/>
      </a:accent1>
      <a:accent2>
        <a:srgbClr val="5781AE"/>
      </a:accent2>
      <a:accent3>
        <a:srgbClr val="A12830"/>
      </a:accent3>
      <a:accent4>
        <a:srgbClr val="00626D"/>
      </a:accent4>
      <a:accent5>
        <a:srgbClr val="C0D4CD"/>
      </a:accent5>
      <a:accent6>
        <a:srgbClr val="FFF200"/>
      </a:accent6>
      <a:hlink>
        <a:srgbClr val="0033CC"/>
      </a:hlink>
      <a:folHlink>
        <a:srgbClr val="78787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tx1"/>
          </a:solidFill>
        </a:ln>
      </a:spPr>
      <a:bodyPr lIns="36000" tIns="36000" rIns="36000" bIns="36000" rtlCol="0" anchor="ctr"/>
      <a:lstStyle>
        <a:defPPr algn="ctr">
          <a:defRPr sz="2000" smtClean="0">
            <a:solidFill>
              <a:schemeClr val="tx1"/>
            </a:solidFill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800" b="0" kern="1200" smtClean="0">
            <a:solidFill>
              <a:schemeClr val="tx1"/>
            </a:solidFill>
            <a:latin typeface="Arial" pitchFamily="34" charset="0"/>
            <a:ea typeface="+mn-ea"/>
            <a:cs typeface="Arial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1139</TotalTime>
  <Words>145</Words>
  <Application>Microsoft Office PowerPoint</Application>
  <PresentationFormat>On-screen Show (4:3)</PresentationFormat>
  <Paragraphs>30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Amdocs</vt:lpstr>
      <vt:lpstr>CM Dashboard</vt:lpstr>
      <vt:lpstr>Data</vt:lpstr>
      <vt:lpstr>Average CPU</vt:lpstr>
      <vt:lpstr>Models</vt:lpstr>
      <vt:lpstr>A:2-point normal/linear model</vt:lpstr>
      <vt:lpstr>Model B:Lognormal</vt:lpstr>
    </vt:vector>
  </TitlesOfParts>
  <Manager>Eric Schaaf</Manager>
  <Company>Amdocs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36 Pt Arial Bold Presentation Subtitle – Arial Regular 24pt</dc:title>
  <dc:creator>Gilli Shama</dc:creator>
  <cp:lastModifiedBy>Amdocs</cp:lastModifiedBy>
  <cp:revision>121</cp:revision>
  <dcterms:created xsi:type="dcterms:W3CDTF">2010-10-27T13:51:43Z</dcterms:created>
  <dcterms:modified xsi:type="dcterms:W3CDTF">2011-01-05T17:43:44Z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ecurityLevel">
    <vt:lpwstr>Level 1 – Confidential</vt:lpwstr>
  </property>
  <property fmtid="{D5CDD505-2E9C-101B-9397-08002B2CF9AE}" pid="3" name="Updated">
    <vt:bool>true</vt:bool>
  </property>
</Properties>
</file>