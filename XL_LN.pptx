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06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BBF0F0-B5C4-4B3D-988D-B1AA0E7456EC}" type="datetimeFigureOut">
              <a:rPr lang="en-US" smtClean="0"/>
              <a:t>15/12/2010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8705C-CD63-49C6-94E1-4E0B685E6D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8705C-CD63-49C6-94E1-4E0B685E6D9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8705C-CD63-49C6-94E1-4E0B685E6D9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8705C-CD63-49C6-94E1-4E0B685E6D9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8705C-CD63-49C6-94E1-4E0B685E6D9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8705C-CD63-49C6-94E1-4E0B685E6D9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8705C-CD63-49C6-94E1-4E0B685E6D9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8705C-CD63-49C6-94E1-4E0B685E6D9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8705C-CD63-49C6-94E1-4E0B685E6D9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8705C-CD63-49C6-94E1-4E0B685E6D9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DD935786-AEDF-48D5-9F17-0805FD75B9E4}" type="datetimeFigureOut">
              <a:rPr lang="en-US" smtClean="0"/>
              <a:t>15/12/2010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37DC36-2C4B-45F8-A8C9-0FC43799B77C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35786-AEDF-48D5-9F17-0805FD75B9E4}" type="datetimeFigureOut">
              <a:rPr lang="en-US" smtClean="0"/>
              <a:t>15/12/2010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C37DC36-2C4B-45F8-A8C9-0FC43799B7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35786-AEDF-48D5-9F17-0805FD75B9E4}" type="datetimeFigureOut">
              <a:rPr lang="en-US" smtClean="0"/>
              <a:t>15/12/2010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9C37DC36-2C4B-45F8-A8C9-0FC43799B77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D935786-AEDF-48D5-9F17-0805FD75B9E4}" type="datetimeFigureOut">
              <a:rPr lang="en-US" smtClean="0"/>
              <a:t>15/12/2010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C37DC36-2C4B-45F8-A8C9-0FC43799B77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D935786-AEDF-48D5-9F17-0805FD75B9E4}" type="datetimeFigureOut">
              <a:rPr lang="en-US" smtClean="0"/>
              <a:t>15/12/2010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C37DC36-2C4B-45F8-A8C9-0FC43799B77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35786-AEDF-48D5-9F17-0805FD75B9E4}" type="datetimeFigureOut">
              <a:rPr lang="en-US" smtClean="0"/>
              <a:t>15/12/2010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C37DC36-2C4B-45F8-A8C9-0FC43799B7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35786-AEDF-48D5-9F17-0805FD75B9E4}" type="datetimeFigureOut">
              <a:rPr lang="en-US" smtClean="0"/>
              <a:t>15/12/2010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37DC36-2C4B-45F8-A8C9-0FC43799B7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35786-AEDF-48D5-9F17-0805FD75B9E4}" type="datetimeFigureOut">
              <a:rPr lang="en-US" smtClean="0"/>
              <a:t>15/12/2010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C37DC36-2C4B-45F8-A8C9-0FC43799B77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DD935786-AEDF-48D5-9F17-0805FD75B9E4}" type="datetimeFigureOut">
              <a:rPr lang="en-US" smtClean="0"/>
              <a:t>15/12/2010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9C37DC36-2C4B-45F8-A8C9-0FC43799B77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35786-AEDF-48D5-9F17-0805FD75B9E4}" type="datetimeFigureOut">
              <a:rPr lang="en-US" smtClean="0"/>
              <a:t>15/12/2010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7DC36-2C4B-45F8-A8C9-0FC43799B7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DD935786-AEDF-48D5-9F17-0805FD75B9E4}" type="datetimeFigureOut">
              <a:rPr lang="en-US" smtClean="0"/>
              <a:t>15/12/2010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9C37DC36-2C4B-45F8-A8C9-0FC43799B77C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D935786-AEDF-48D5-9F17-0805FD75B9E4}" type="datetimeFigureOut">
              <a:rPr lang="en-US" smtClean="0"/>
              <a:t>15/12/2010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9C37DC36-2C4B-45F8-A8C9-0FC43799B77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XL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Goal: </a:t>
            </a:r>
            <a:r>
              <a:rPr lang="en-US" dirty="0" smtClean="0"/>
              <a:t>Prediction of CPU demand (% utilization) based on system load </a:t>
            </a:r>
          </a:p>
          <a:p>
            <a:endParaRPr lang="en-US" dirty="0"/>
          </a:p>
          <a:p>
            <a:r>
              <a:rPr lang="en-US" b="1" dirty="0" smtClean="0"/>
              <a:t>C</a:t>
            </a:r>
            <a:r>
              <a:rPr lang="en-US" dirty="0" smtClean="0"/>
              <a:t>- CPU utilization during 5sec interval</a:t>
            </a:r>
          </a:p>
          <a:p>
            <a:r>
              <a:rPr lang="en-US" b="1" dirty="0" smtClean="0"/>
              <a:t>N</a:t>
            </a:r>
            <a:r>
              <a:rPr lang="en-US" dirty="0" smtClean="0"/>
              <a:t>-average number of transactions per hour</a:t>
            </a:r>
          </a:p>
          <a:p>
            <a:r>
              <a:rPr lang="en-US" b="1" dirty="0" smtClean="0"/>
              <a:t>B</a:t>
            </a:r>
            <a:r>
              <a:rPr lang="en-US" dirty="0" smtClean="0"/>
              <a:t>-maximum possible CPU utilization allowing SLA fulfillment</a:t>
            </a:r>
          </a:p>
          <a:p>
            <a:r>
              <a:rPr lang="en-US" b="1" dirty="0" smtClean="0"/>
              <a:t>A</a:t>
            </a:r>
            <a:r>
              <a:rPr lang="en-US" dirty="0" smtClean="0"/>
              <a:t> –tolerance threshold</a:t>
            </a:r>
          </a:p>
          <a:p>
            <a:pPr>
              <a:buNone/>
            </a:pPr>
            <a:r>
              <a:rPr lang="en-US" dirty="0" smtClean="0"/>
              <a:t>  </a:t>
            </a:r>
          </a:p>
          <a:p>
            <a:r>
              <a:rPr lang="en-US" b="1" dirty="0" smtClean="0"/>
              <a:t>Find maximum </a:t>
            </a:r>
            <a:r>
              <a:rPr lang="en-US" b="1" dirty="0" smtClean="0"/>
              <a:t>N</a:t>
            </a:r>
            <a:r>
              <a:rPr lang="en-US" b="1" baseline="-25000" dirty="0" smtClean="0"/>
              <a:t>0 </a:t>
            </a:r>
            <a:r>
              <a:rPr lang="en-US" b="1" dirty="0" smtClean="0"/>
              <a:t>such that P(C&lt;B|N=N</a:t>
            </a:r>
            <a:r>
              <a:rPr lang="en-US" b="1" baseline="-25000" dirty="0" smtClean="0"/>
              <a:t>0</a:t>
            </a:r>
            <a:r>
              <a:rPr lang="en-US" b="1" dirty="0" smtClean="0"/>
              <a:t>)&gt;1-A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 N –average number of transactions per hour</a:t>
            </a:r>
          </a:p>
          <a:p>
            <a:endParaRPr lang="en-US" dirty="0"/>
          </a:p>
          <a:p>
            <a:r>
              <a:rPr lang="en-US" dirty="0" smtClean="0"/>
              <a:t>N</a:t>
            </a:r>
            <a:r>
              <a:rPr lang="en-US" baseline="-25000" dirty="0" smtClean="0"/>
              <a:t>5</a:t>
            </a:r>
            <a:r>
              <a:rPr lang="en-US" dirty="0" smtClean="0"/>
              <a:t>=N/(60*12)-average number of transactions per 5 second</a:t>
            </a:r>
          </a:p>
          <a:p>
            <a:endParaRPr lang="en-US" dirty="0"/>
          </a:p>
          <a:p>
            <a:r>
              <a:rPr lang="en-US" dirty="0" smtClean="0"/>
              <a:t> </a:t>
            </a:r>
            <a:r>
              <a:rPr lang="en-US" dirty="0" smtClean="0"/>
              <a:t>n-random variable , number of transactions during 5 second interval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n=Poisson (</a:t>
            </a:r>
            <a:r>
              <a:rPr lang="en-US" dirty="0" smtClean="0"/>
              <a:t>N</a:t>
            </a:r>
            <a:r>
              <a:rPr lang="en-US" baseline="-25000" dirty="0" smtClean="0"/>
              <a:t>5</a:t>
            </a:r>
            <a:r>
              <a:rPr lang="en-US" dirty="0" smtClean="0"/>
              <a:t>)</a:t>
            </a:r>
            <a:r>
              <a:rPr lang="en-US" dirty="0" smtClean="0">
                <a:sym typeface="Symbol"/>
              </a:rPr>
              <a:t> </a:t>
            </a:r>
            <a:r>
              <a:rPr lang="en-US" dirty="0" smtClean="0"/>
              <a:t>Norm(</a:t>
            </a:r>
            <a:r>
              <a:rPr lang="en-US" dirty="0" smtClean="0">
                <a:sym typeface="Symbol"/>
              </a:rPr>
              <a:t>=</a:t>
            </a:r>
            <a:r>
              <a:rPr lang="en-US" dirty="0" smtClean="0"/>
              <a:t> N</a:t>
            </a:r>
            <a:r>
              <a:rPr lang="en-US" baseline="-25000" dirty="0" smtClean="0"/>
              <a:t>5 ,</a:t>
            </a:r>
            <a:r>
              <a:rPr lang="en-US" dirty="0" smtClean="0">
                <a:sym typeface="Symbol"/>
              </a:rPr>
              <a:t></a:t>
            </a:r>
            <a:r>
              <a:rPr lang="en-US" baseline="30000" dirty="0" smtClean="0">
                <a:sym typeface="Symbol"/>
              </a:rPr>
              <a:t>2</a:t>
            </a:r>
            <a:r>
              <a:rPr lang="en-US" dirty="0" smtClean="0">
                <a:sym typeface="Symbol"/>
              </a:rPr>
              <a:t>=</a:t>
            </a:r>
            <a:r>
              <a:rPr lang="en-US" dirty="0" smtClean="0"/>
              <a:t> N</a:t>
            </a:r>
            <a:r>
              <a:rPr lang="en-US" baseline="-25000" dirty="0" smtClean="0"/>
              <a:t>5</a:t>
            </a:r>
            <a:r>
              <a:rPr lang="en-US" dirty="0" smtClean="0">
                <a:sym typeface="Symbol"/>
              </a:rPr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CPU Utilization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 smtClean="0"/>
              <a:t> Assume that number of transactions increases by </a:t>
            </a:r>
            <a:r>
              <a:rPr lang="en-US" dirty="0" smtClean="0">
                <a:sym typeface="Symbol"/>
              </a:rPr>
              <a:t>n </a:t>
            </a:r>
          </a:p>
          <a:p>
            <a:endParaRPr lang="en-US" dirty="0">
              <a:sym typeface="Symbol"/>
            </a:endParaRPr>
          </a:p>
          <a:p>
            <a:r>
              <a:rPr lang="en-US" dirty="0" smtClean="0">
                <a:sym typeface="Symbol"/>
              </a:rPr>
              <a:t>As a result , CPU load is increased by </a:t>
            </a:r>
            <a:r>
              <a:rPr lang="en-US" dirty="0" smtClean="0">
                <a:sym typeface="Symbol"/>
              </a:rPr>
              <a:t>C </a:t>
            </a:r>
          </a:p>
          <a:p>
            <a:pPr>
              <a:buNone/>
            </a:pPr>
            <a:endParaRPr lang="en-US" dirty="0">
              <a:sym typeface="Symbol"/>
            </a:endParaRPr>
          </a:p>
          <a:p>
            <a:r>
              <a:rPr lang="en-US" dirty="0">
                <a:sym typeface="Symbol"/>
              </a:rPr>
              <a:t> </a:t>
            </a:r>
            <a:r>
              <a:rPr lang="en-US" dirty="0" smtClean="0">
                <a:sym typeface="Symbol"/>
              </a:rPr>
              <a:t>C </a:t>
            </a:r>
            <a:r>
              <a:rPr lang="en-US" dirty="0" smtClean="0">
                <a:sym typeface="Symbol"/>
              </a:rPr>
              <a:t>will be larger when system is busier due to increased “context switch” overhead</a:t>
            </a:r>
          </a:p>
          <a:p>
            <a:pPr>
              <a:buNone/>
            </a:pPr>
            <a:endParaRPr lang="en-US" dirty="0" smtClean="0">
              <a:sym typeface="Symbol"/>
            </a:endParaRPr>
          </a:p>
          <a:p>
            <a:r>
              <a:rPr lang="en-US" dirty="0" smtClean="0">
                <a:sym typeface="Symbol"/>
              </a:rPr>
              <a:t>Simple model C/n C</a:t>
            </a:r>
            <a:endParaRPr lang="en-US" dirty="0" smtClean="0">
              <a:sym typeface="Symbol"/>
            </a:endParaRPr>
          </a:p>
          <a:p>
            <a:endParaRPr lang="en-US" dirty="0" smtClean="0">
              <a:sym typeface="Symbol"/>
            </a:endParaRPr>
          </a:p>
          <a:p>
            <a:endParaRPr lang="en-US" dirty="0">
              <a:sym typeface="Symbol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Log-normal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ym typeface="Symbol"/>
              </a:rPr>
              <a:t>C/n C</a:t>
            </a:r>
          </a:p>
          <a:p>
            <a:endParaRPr lang="en-US" dirty="0">
              <a:sym typeface="Symbol"/>
            </a:endParaRPr>
          </a:p>
          <a:p>
            <a:r>
              <a:rPr lang="en-US" dirty="0" smtClean="0">
                <a:sym typeface="Symbol"/>
              </a:rPr>
              <a:t>C/n </a:t>
            </a:r>
            <a:r>
              <a:rPr lang="en-US" dirty="0" smtClean="0">
                <a:sym typeface="Symbol"/>
              </a:rPr>
              <a:t>C=&gt;</a:t>
            </a:r>
            <a:r>
              <a:rPr lang="en-US" dirty="0" smtClean="0">
                <a:sym typeface="Symbol"/>
              </a:rPr>
              <a:t> </a:t>
            </a:r>
            <a:r>
              <a:rPr lang="en-US" dirty="0" smtClean="0">
                <a:sym typeface="Symbol"/>
              </a:rPr>
              <a:t>C/C</a:t>
            </a:r>
            <a:r>
              <a:rPr lang="en-US" dirty="0" smtClean="0">
                <a:sym typeface="Symbol"/>
              </a:rPr>
              <a:t>n</a:t>
            </a:r>
            <a:r>
              <a:rPr lang="en-US" dirty="0" smtClean="0">
                <a:sym typeface="Symbol"/>
              </a:rPr>
              <a:t> =&gt;</a:t>
            </a:r>
            <a:r>
              <a:rPr lang="en-US" dirty="0" err="1" smtClean="0">
                <a:sym typeface="Symbol"/>
              </a:rPr>
              <a:t>logC</a:t>
            </a:r>
            <a:r>
              <a:rPr lang="en-US" dirty="0" smtClean="0">
                <a:sym typeface="Symbol"/>
              </a:rPr>
              <a:t>= n+</a:t>
            </a:r>
          </a:p>
          <a:p>
            <a:endParaRPr lang="en-US" dirty="0">
              <a:sym typeface="Symbol"/>
            </a:endParaRPr>
          </a:p>
          <a:p>
            <a:r>
              <a:rPr lang="en-US" dirty="0" smtClean="0">
                <a:sym typeface="Symbol"/>
              </a:rPr>
              <a:t>Standard log-normal distribution</a:t>
            </a:r>
          </a:p>
          <a:p>
            <a:endParaRPr lang="en-US" dirty="0">
              <a:sym typeface="Symbol"/>
            </a:endParaRPr>
          </a:p>
          <a:p>
            <a:r>
              <a:rPr lang="en-US" dirty="0" smtClean="0">
                <a:sym typeface="Symbol"/>
              </a:rPr>
              <a:t>Learn parameters  and  from data</a:t>
            </a:r>
          </a:p>
          <a:p>
            <a:endParaRPr lang="en-US" dirty="0" smtClean="0">
              <a:sym typeface="Symbol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From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 CPU utilization data for 30 days during peak hour from single host</a:t>
            </a:r>
          </a:p>
          <a:p>
            <a:pPr lvl="1"/>
            <a:r>
              <a:rPr lang="en-US" dirty="0" smtClean="0"/>
              <a:t>30*12=312 points</a:t>
            </a:r>
          </a:p>
          <a:p>
            <a:endParaRPr lang="en-US" dirty="0" smtClean="0"/>
          </a:p>
          <a:p>
            <a:r>
              <a:rPr lang="en-US" dirty="0" smtClean="0"/>
              <a:t>Transaction data for 30 days during peak hour from single host</a:t>
            </a:r>
          </a:p>
          <a:p>
            <a:pPr lvl="1"/>
            <a:r>
              <a:rPr lang="en-US" dirty="0" smtClean="0"/>
              <a:t>30 points</a:t>
            </a:r>
          </a:p>
          <a:p>
            <a:endParaRPr lang="en-US" dirty="0" smtClean="0"/>
          </a:p>
          <a:p>
            <a:r>
              <a:rPr lang="en-US" dirty="0" smtClean="0"/>
              <a:t>Learn parameters of log normal distribution from 342 points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</a:t>
            </a:r>
            <a:r>
              <a:rPr lang="en-US" dirty="0" smtClean="0"/>
              <a:t>xplain well existing data</a:t>
            </a:r>
          </a:p>
          <a:p>
            <a:pPr lvl="1"/>
            <a:r>
              <a:rPr lang="en-US" dirty="0" smtClean="0"/>
              <a:t>[Graph]</a:t>
            </a:r>
          </a:p>
          <a:p>
            <a:pPr lvl="1"/>
            <a:endParaRPr lang="en-US" dirty="0"/>
          </a:p>
          <a:p>
            <a:r>
              <a:rPr lang="en-US" dirty="0" smtClean="0"/>
              <a:t>Can estimate </a:t>
            </a:r>
            <a:r>
              <a:rPr lang="en-US" b="1" dirty="0" smtClean="0"/>
              <a:t>P(C&lt;B|N=N</a:t>
            </a:r>
            <a:r>
              <a:rPr lang="en-US" b="1" baseline="-25000" dirty="0" smtClean="0"/>
              <a:t>0</a:t>
            </a:r>
            <a:r>
              <a:rPr lang="en-US" b="1" dirty="0" smtClean="0"/>
              <a:t>) </a:t>
            </a:r>
            <a:r>
              <a:rPr lang="en-US" dirty="0" smtClean="0"/>
              <a:t>for any reasonable </a:t>
            </a:r>
            <a:r>
              <a:rPr lang="en-US" b="1" dirty="0" smtClean="0"/>
              <a:t>B</a:t>
            </a:r>
            <a:r>
              <a:rPr lang="en-US" dirty="0" smtClean="0"/>
              <a:t> and </a:t>
            </a:r>
            <a:r>
              <a:rPr lang="en-US" dirty="0" smtClean="0"/>
              <a:t> </a:t>
            </a:r>
            <a:r>
              <a:rPr lang="en-US" b="1" dirty="0" smtClean="0"/>
              <a:t>N</a:t>
            </a:r>
            <a:r>
              <a:rPr lang="en-US" b="1" baseline="-25000" dirty="0" smtClean="0"/>
              <a:t>0</a:t>
            </a:r>
          </a:p>
          <a:p>
            <a:pPr lvl="1"/>
            <a:r>
              <a:rPr lang="en-US" dirty="0" smtClean="0"/>
              <a:t>[Graph]</a:t>
            </a:r>
          </a:p>
          <a:p>
            <a:pPr lvl="1"/>
            <a:endParaRPr lang="en-US" dirty="0"/>
          </a:p>
          <a:p>
            <a:r>
              <a:rPr lang="en-US" dirty="0" smtClean="0"/>
              <a:t>Excel tool for estimating probability of high CPU demand for given number of TPS</a:t>
            </a:r>
          </a:p>
          <a:p>
            <a:pPr lvl="1"/>
            <a:r>
              <a:rPr lang="en-US" dirty="0" smtClean="0"/>
              <a:t>[excel interactive table]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Backup SLIDES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Slides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 Almost uniform distribution of</a:t>
            </a:r>
          </a:p>
          <a:p>
            <a:pPr lvl="1"/>
            <a:r>
              <a:rPr lang="en-US" dirty="0" smtClean="0"/>
              <a:t>Transactions per day[graph]</a:t>
            </a:r>
          </a:p>
          <a:p>
            <a:pPr lvl="1"/>
            <a:r>
              <a:rPr lang="en-US" dirty="0" smtClean="0"/>
              <a:t>Transactions per weekday[graph]</a:t>
            </a:r>
          </a:p>
          <a:p>
            <a:pPr lvl="1"/>
            <a:r>
              <a:rPr lang="en-US" dirty="0" smtClean="0"/>
              <a:t>Peak hour transactions for any given day[graph]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39</TotalTime>
  <Words>299</Words>
  <Application>Microsoft Office PowerPoint</Application>
  <PresentationFormat>On-screen Show (4:3)</PresentationFormat>
  <Paragraphs>70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Median</vt:lpstr>
      <vt:lpstr>XL analysis</vt:lpstr>
      <vt:lpstr>Introduction</vt:lpstr>
      <vt:lpstr>Load Model</vt:lpstr>
      <vt:lpstr>CPU Utilization Model</vt:lpstr>
      <vt:lpstr>Log-normal distribution</vt:lpstr>
      <vt:lpstr>Learning From Data</vt:lpstr>
      <vt:lpstr>Results</vt:lpstr>
      <vt:lpstr>Backup SLIDES</vt:lpstr>
      <vt:lpstr>Slides </vt:lpstr>
    </vt:vector>
  </TitlesOfParts>
  <Company> 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XL analysis</dc:title>
  <dc:creator> </dc:creator>
  <cp:lastModifiedBy> </cp:lastModifiedBy>
  <cp:revision>7</cp:revision>
  <dcterms:created xsi:type="dcterms:W3CDTF">2010-12-15T11:50:15Z</dcterms:created>
  <dcterms:modified xsi:type="dcterms:W3CDTF">2010-12-15T12:29:37Z</dcterms:modified>
</cp:coreProperties>
</file>